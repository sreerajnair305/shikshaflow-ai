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7" autoAdjust="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637180989"/>
              </p:ext>
            </p:extLst>
          </p:nvPr>
        </p:nvGraphicFramePr>
        <p:xfrm>
          <a:off x="179557" y="2305881"/>
          <a:ext cx="11817927" cy="3843279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305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8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259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Student Name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Recent Passport Photo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7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Sreeraj Nair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sreerajnair03@gmail.com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9173800185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Education 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</a:t>
            </a:r>
            <a:r>
              <a:rPr lang="en-IN" sz="2400" dirty="0"/>
              <a:t>AI-Powered Personalized Learning &amp; Teacher Assistant Platform</a:t>
            </a:r>
            <a:endParaRPr lang="en-IN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42207-22AC-70A3-572B-1ACD07FDE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720" y="4117521"/>
            <a:ext cx="1554307" cy="19245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608513"/>
            <a:ext cx="1060704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pPr algn="just"/>
            <a:r>
              <a:rPr lang="en-IN" sz="2000" dirty="0"/>
              <a:t>Many government and rural schools in Gujarat face diverse student learning levels, limited personalized resources, increasing teacher workload, and inadequate real-time performance insights. Teachers need AI support to create lessons, assess students, and provide personalized learning assistance.</a:t>
            </a:r>
          </a:p>
          <a:p>
            <a:pPr algn="just" fontAlgn="base"/>
            <a:endParaRPr lang="en-US" sz="2000" dirty="0"/>
          </a:p>
          <a:p>
            <a:pPr algn="just" fontAlgn="base"/>
            <a:r>
              <a:rPr lang="en-US" sz="2000" b="1" dirty="0"/>
              <a:t>The Objective</a:t>
            </a:r>
            <a:r>
              <a:rPr lang="en-US" sz="2000" dirty="0"/>
              <a:t> :</a:t>
            </a:r>
          </a:p>
          <a:p>
            <a:pPr lvl="0" algn="just"/>
            <a:r>
              <a:rPr lang="en-IN" sz="2000" b="1" dirty="0"/>
              <a:t>Personalized Learning</a:t>
            </a:r>
            <a:r>
              <a:rPr lang="en-IN" sz="2000" dirty="0"/>
              <a:t> – Recommend learning activities based on student performance. </a:t>
            </a:r>
          </a:p>
          <a:p>
            <a:pPr lvl="0" algn="just"/>
            <a:r>
              <a:rPr lang="en-IN" sz="2000" b="1" dirty="0"/>
              <a:t>AI Content Generation</a:t>
            </a:r>
            <a:r>
              <a:rPr lang="en-IN" sz="2000" dirty="0"/>
              <a:t> – Generate lesson plans, worksheets, and questions. </a:t>
            </a:r>
          </a:p>
          <a:p>
            <a:pPr lvl="0" algn="just"/>
            <a:r>
              <a:rPr lang="en-IN" sz="2000" b="1" dirty="0"/>
              <a:t>Assessment &amp; Feedback</a:t>
            </a:r>
            <a:r>
              <a:rPr lang="en-IN" sz="2000" dirty="0"/>
              <a:t> – Evaluate answers and provide instant feedback. </a:t>
            </a:r>
          </a:p>
          <a:p>
            <a:pPr lvl="0" algn="just"/>
            <a:r>
              <a:rPr lang="en-IN" sz="2000" b="1" dirty="0"/>
              <a:t>Performance Analytics</a:t>
            </a:r>
            <a:r>
              <a:rPr lang="en-IN" sz="2000" dirty="0"/>
              <a:t> – Identify weak areas and students needing support. </a:t>
            </a:r>
          </a:p>
          <a:p>
            <a:pPr lvl="0" algn="just"/>
            <a:r>
              <a:rPr lang="en-IN" sz="2000" b="1" dirty="0"/>
              <a:t>Multi-Agent System</a:t>
            </a:r>
            <a:r>
              <a:rPr lang="en-IN" sz="2000" dirty="0"/>
              <a:t> – Use specialized agents for learning recommendations, content generation, assessment, analytics, and teacher assistance. </a:t>
            </a:r>
          </a:p>
          <a:p>
            <a:pPr lvl="0" algn="just"/>
            <a:r>
              <a:rPr lang="en-IN" sz="2000" b="1" dirty="0"/>
              <a:t>Learning Resources</a:t>
            </a:r>
            <a:r>
              <a:rPr lang="en-IN" sz="2000" dirty="0"/>
              <a:t> – Integrate IBM </a:t>
            </a:r>
            <a:r>
              <a:rPr lang="en-IN" sz="2000" dirty="0" err="1"/>
              <a:t>SkillsBuild</a:t>
            </a:r>
            <a:r>
              <a:rPr lang="en-IN" sz="2000" dirty="0"/>
              <a:t> and OER resources. </a:t>
            </a:r>
          </a:p>
          <a:p>
            <a:pPr lvl="0" algn="just"/>
            <a:r>
              <a:rPr lang="en-IN" sz="2000" b="1" dirty="0"/>
              <a:t>Teacher Dashboard</a:t>
            </a:r>
            <a:r>
              <a:rPr lang="en-IN" sz="2000" dirty="0"/>
              <a:t> – Provide student progress and actionable AI insights.</a:t>
            </a:r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08184"/>
            <a:ext cx="114046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r>
              <a:rPr lang="en-IN" sz="2800" dirty="0"/>
              <a:t>AI-Powered Personalized Learning &amp; Teacher Assistant Platform 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648808" y="880496"/>
            <a:ext cx="1060704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An Agentic AI-powered education platform that connects teachers, classes, and students through personalized learning and intelligent classroom support.</a:t>
            </a:r>
          </a:p>
          <a:p>
            <a:endParaRPr lang="en-IN" sz="2000" dirty="0"/>
          </a:p>
          <a:p>
            <a:r>
              <a:rPr lang="en-IN" sz="2000" dirty="0"/>
              <a:t>The platform will:</a:t>
            </a:r>
          </a:p>
          <a:p>
            <a:pPr lvl="0"/>
            <a:r>
              <a:rPr lang="en-IN" sz="2000" b="1" dirty="0"/>
              <a:t>Manage Teachers, Classes &amp; Students</a:t>
            </a:r>
            <a:r>
              <a:rPr lang="en-IN" sz="2000" dirty="0"/>
              <a:t> – Provide role-based dashboards for managing classes, students, tasks, and progress. </a:t>
            </a:r>
          </a:p>
          <a:p>
            <a:pPr lvl="0"/>
            <a:r>
              <a:rPr lang="en-IN" sz="2000" b="1" dirty="0"/>
              <a:t>Personalize Learning</a:t>
            </a:r>
            <a:r>
              <a:rPr lang="en-IN" sz="2000" dirty="0"/>
              <a:t> – </a:t>
            </a:r>
            <a:r>
              <a:rPr lang="en-IN" sz="2000" dirty="0" err="1"/>
              <a:t>Analyze</a:t>
            </a:r>
            <a:r>
              <a:rPr lang="en-IN" sz="2000" dirty="0"/>
              <a:t> student performance and recommend suitable topics, activities, and resources. </a:t>
            </a:r>
          </a:p>
          <a:p>
            <a:pPr lvl="0"/>
            <a:r>
              <a:rPr lang="en-IN" sz="2000" b="1" dirty="0"/>
              <a:t>Assist Teachers</a:t>
            </a:r>
            <a:r>
              <a:rPr lang="en-IN" sz="2000" dirty="0"/>
              <a:t> – Generate lesson plans, worksheets, questions, and classroom activities using AI. </a:t>
            </a:r>
          </a:p>
          <a:p>
            <a:pPr lvl="0"/>
            <a:r>
              <a:rPr lang="en-IN" sz="2000" b="1" dirty="0"/>
              <a:t>Automate Assessment</a:t>
            </a:r>
            <a:r>
              <a:rPr lang="en-IN" sz="2000" dirty="0"/>
              <a:t> – Evaluate student responses, identify mistakes, and provide instant feedback. </a:t>
            </a:r>
          </a:p>
          <a:p>
            <a:pPr lvl="0"/>
            <a:r>
              <a:rPr lang="en-IN" sz="2000" b="1" dirty="0" err="1"/>
              <a:t>Analyze</a:t>
            </a:r>
            <a:r>
              <a:rPr lang="en-IN" sz="2000" b="1" dirty="0"/>
              <a:t> Performance</a:t>
            </a:r>
            <a:r>
              <a:rPr lang="en-IN" sz="2000" dirty="0"/>
              <a:t> – Track scores, attendance, task completion, and learning trends to identify weak areas. </a:t>
            </a:r>
          </a:p>
          <a:p>
            <a:pPr lvl="0"/>
            <a:r>
              <a:rPr lang="en-IN" sz="2000" b="1" dirty="0"/>
              <a:t>Provide Student Support</a:t>
            </a:r>
            <a:r>
              <a:rPr lang="en-IN" sz="2000" dirty="0"/>
              <a:t> – Detect students requiring additional attention and suggest appropriate interventions. </a:t>
            </a:r>
          </a:p>
          <a:p>
            <a:pPr lvl="0"/>
            <a:r>
              <a:rPr lang="en-IN" sz="2000" b="1" dirty="0"/>
              <a:t>Integrate Learning Resources</a:t>
            </a:r>
            <a:r>
              <a:rPr lang="en-IN" sz="2000" dirty="0"/>
              <a:t> – Recommend relevant IBM </a:t>
            </a:r>
            <a:r>
              <a:rPr lang="en-IN" sz="2000" dirty="0" err="1"/>
              <a:t>SkillsBuild</a:t>
            </a:r>
            <a:r>
              <a:rPr lang="en-IN" sz="2000" dirty="0"/>
              <a:t> and OER resources. </a:t>
            </a:r>
          </a:p>
          <a:p>
            <a:pPr lvl="0"/>
            <a:r>
              <a:rPr lang="en-IN" sz="2000" b="1" dirty="0"/>
              <a:t>Use Agentic AI</a:t>
            </a:r>
            <a:r>
              <a:rPr lang="en-IN" sz="2000" dirty="0"/>
              <a:t> – Deploy specialized AI agents for content generation, assessment, analytics, personalization, and teacher assistance.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648808" y="403443"/>
            <a:ext cx="7214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 </a:t>
            </a:r>
            <a:r>
              <a:rPr lang="en-IN" sz="2800" b="1" dirty="0"/>
              <a:t>ShikshaFlow AI 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39" y="1207008"/>
            <a:ext cx="11141133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/>
            <a:r>
              <a:rPr lang="en-IN" sz="2000" b="1" dirty="0"/>
              <a:t>IBM Granite LLM</a:t>
            </a:r>
            <a:r>
              <a:rPr lang="en-IN" sz="2000" dirty="0"/>
              <a:t> – For natural language understanding, reasoning, content generation, and personalized learning recommendations. </a:t>
            </a:r>
          </a:p>
          <a:p>
            <a:pPr lvl="0" algn="just"/>
            <a:r>
              <a:rPr lang="en-IN" sz="2000" b="1" dirty="0"/>
              <a:t>IBM Cloud</a:t>
            </a:r>
            <a:r>
              <a:rPr lang="en-IN" sz="2000" dirty="0"/>
              <a:t> – Provides a secure, scalable, and reliable infrastructure for deploying the AI platform and services. </a:t>
            </a:r>
          </a:p>
          <a:p>
            <a:pPr lvl="0" algn="just"/>
            <a:r>
              <a:rPr lang="en-IN" sz="2000" b="1" dirty="0"/>
              <a:t>RAG (Retrieval-Augmented Generation)</a:t>
            </a:r>
            <a:r>
              <a:rPr lang="en-IN" sz="2000" dirty="0"/>
              <a:t> – Retrieves relevant learning information from trusted sources before generating AI responses. </a:t>
            </a:r>
          </a:p>
          <a:p>
            <a:pPr lvl="0" algn="just"/>
            <a:r>
              <a:rPr lang="en-IN" sz="2000" b="1" dirty="0"/>
              <a:t>IBM watsonx.ai</a:t>
            </a:r>
            <a:r>
              <a:rPr lang="en-IN" sz="2000" dirty="0"/>
              <a:t> – For AI model deployment, inference, and AI governance. </a:t>
            </a:r>
          </a:p>
          <a:p>
            <a:pPr lvl="0" algn="just"/>
            <a:r>
              <a:rPr lang="en-IN" sz="2000" dirty="0"/>
              <a:t>Vector Database (FAISS/Chroma) – Stores and retrieves embeddings of learning resources for RAG-based knowledge retrieval. </a:t>
            </a:r>
          </a:p>
          <a:p>
            <a:pPr lvl="0" algn="just"/>
            <a:r>
              <a:rPr lang="en-IN" sz="2000" b="1" dirty="0"/>
              <a:t>IBM </a:t>
            </a:r>
            <a:r>
              <a:rPr lang="en-IN" sz="2000" b="1" dirty="0" err="1"/>
              <a:t>SkillsBuild</a:t>
            </a:r>
            <a:r>
              <a:rPr lang="en-IN" sz="2000" b="1" dirty="0"/>
              <a:t> &amp; OER</a:t>
            </a:r>
            <a:r>
              <a:rPr lang="en-IN" sz="2000" dirty="0"/>
              <a:t> – Provides educational resources and learning materials for students and teachers. 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component Used 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114539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1) Chat Input</a:t>
            </a:r>
            <a:r>
              <a:rPr lang="en-IN" sz="2000" dirty="0"/>
              <a:t> – Interface where teachers or students enter their queries, requirements, or learning-related questions.</a:t>
            </a:r>
          </a:p>
          <a:p>
            <a:r>
              <a:rPr lang="en-IN" sz="2000" b="1" dirty="0"/>
              <a:t>2) AI Agent</a:t>
            </a:r>
            <a:r>
              <a:rPr lang="en-IN" sz="2000" dirty="0"/>
              <a:t> – Processes user input and routes it to the appropriate specialized agent for personalized learning, content generation, assessment, feedback, or teacher assistance.</a:t>
            </a:r>
          </a:p>
          <a:p>
            <a:r>
              <a:rPr lang="en-IN" sz="2000" b="1" dirty="0"/>
              <a:t>3) IBM Granite Model</a:t>
            </a:r>
            <a:r>
              <a:rPr lang="en-IN" sz="2000" dirty="0"/>
              <a:t> – </a:t>
            </a:r>
            <a:r>
              <a:rPr lang="en-IN" sz="2000" b="1" dirty="0"/>
              <a:t>Granite-3.2-8B-Instruct</a:t>
            </a:r>
            <a:r>
              <a:rPr lang="en-IN" sz="2000" dirty="0"/>
              <a:t> → Used for natural language understanding, reasoning, content generation, and personalized recommendations.</a:t>
            </a:r>
          </a:p>
          <a:p>
            <a:r>
              <a:rPr lang="en-IN" sz="2000" b="1" dirty="0"/>
              <a:t>4) Chat Output</a:t>
            </a:r>
            <a:r>
              <a:rPr lang="en-IN" sz="2000" dirty="0"/>
              <a:t> – Displays AI-generated responses such as lesson plans, learning recommendations, assessment results, feedback, and student insights.</a:t>
            </a:r>
          </a:p>
          <a:p>
            <a:r>
              <a:rPr lang="en-IN" sz="2000" b="1" dirty="0"/>
              <a:t>5) File/Data Component</a:t>
            </a:r>
            <a:r>
              <a:rPr lang="en-IN" sz="2000" dirty="0"/>
              <a:t> – Stores and retrieves student profiles, class data, tasks, submissions, performance records, and learning resources.</a:t>
            </a:r>
          </a:p>
          <a:p>
            <a:r>
              <a:rPr lang="en-IN" sz="2000" b="1" dirty="0"/>
              <a:t>6) Prompt Template</a:t>
            </a:r>
            <a:r>
              <a:rPr lang="en-IN" sz="2000" dirty="0"/>
              <a:t> – Combines the user's request with relevant class, student, and performance context to generate accurate and personalized AI responses.</a:t>
            </a:r>
          </a:p>
          <a:p>
            <a:r>
              <a:rPr lang="en-IN" sz="2000" b="1" dirty="0"/>
              <a:t>7) JSON Parser</a:t>
            </a:r>
            <a:r>
              <a:rPr lang="en-IN" sz="2000" dirty="0"/>
              <a:t> – Processes and validates structured AI outputs such as questions, scores, feedback, and recommendations before displaying them in the application.</a:t>
            </a:r>
          </a:p>
          <a:p>
            <a:pPr marL="342900" indent="-342900">
              <a:buAutoNum type="arabicParenR" startAt="3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latin typeface="+mj-lt"/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latin typeface="+mj-lt"/>
                <a:sym typeface="Times New Roman"/>
              </a:rPr>
              <a:t>workflow </a:t>
            </a:r>
            <a:endParaRPr sz="2800" b="1" dirty="0">
              <a:latin typeface="+mj-lt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83991-1C6E-62D8-FCDC-B66A22AC9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6092"/>
            <a:ext cx="12192000" cy="356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Architecture blueprint</a:t>
            </a:r>
            <a:endParaRPr lang="en-US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32D17-007E-A638-B924-1D2B0A053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89" r="5989"/>
          <a:stretch>
            <a:fillRect/>
          </a:stretch>
        </p:blipFill>
        <p:spPr>
          <a:xfrm>
            <a:off x="0" y="898396"/>
            <a:ext cx="12192000" cy="5315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</a:t>
            </a:r>
            <a:r>
              <a:rPr lang="en-US" sz="2800" b="1" dirty="0"/>
              <a:t>in</a:t>
            </a:r>
            <a:r>
              <a:rPr lang="en-US" sz="3200" b="1" dirty="0"/>
              <a:t>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111095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/>
              <a:t>Agentic AI</a:t>
            </a:r>
            <a:r>
              <a:rPr lang="en-IN" sz="2000" dirty="0"/>
              <a:t> enables ShikshaFlow AI to work as an </a:t>
            </a:r>
            <a:r>
              <a:rPr lang="en-IN" sz="2000" b="1" dirty="0"/>
              <a:t>intelligent, autonomous, and adaptive education system</a:t>
            </a:r>
            <a:r>
              <a:rPr lang="en-IN" sz="2000" dirty="0"/>
              <a:t> rather than a simple chatbot. Using </a:t>
            </a:r>
            <a:r>
              <a:rPr lang="en-IN" sz="2000" b="1" dirty="0" err="1"/>
              <a:t>Langflow</a:t>
            </a:r>
            <a:r>
              <a:rPr lang="en-IN" sz="2000" b="1" dirty="0"/>
              <a:t>, IBM watsonx.ai, IBM Granite, RAG, and IBM Cloud</a:t>
            </a:r>
            <a:r>
              <a:rPr lang="en-IN" sz="2000" dirty="0"/>
              <a:t>, multiple specialized agents collaborate to provide personalized learning and teacher assistance.</a:t>
            </a:r>
          </a:p>
          <a:p>
            <a:pPr algn="just"/>
            <a:r>
              <a:rPr lang="en-IN" sz="2000" dirty="0"/>
              <a:t>Each agent performs a specific role—such as </a:t>
            </a:r>
            <a:r>
              <a:rPr lang="en-IN" sz="2000" b="1" dirty="0"/>
              <a:t>content generation, student performance analysis, automated assessment, feedback, and personalized recommendations</a:t>
            </a:r>
            <a:r>
              <a:rPr lang="en-IN" sz="2000" dirty="0"/>
              <a:t>—through coordinated </a:t>
            </a:r>
            <a:r>
              <a:rPr lang="en-IN" sz="2000" b="1" dirty="0"/>
              <a:t>multi-agent workflows</a:t>
            </a:r>
            <a:r>
              <a:rPr lang="en-IN" sz="2000" dirty="0"/>
              <a:t>. The system uses </a:t>
            </a:r>
            <a:r>
              <a:rPr lang="en-IN" sz="2000" b="1" dirty="0"/>
              <a:t>context awareness</a:t>
            </a:r>
            <a:r>
              <a:rPr lang="en-IN" sz="2000" dirty="0"/>
              <a:t> by </a:t>
            </a:r>
            <a:r>
              <a:rPr lang="en-IN" sz="2000" dirty="0" err="1"/>
              <a:t>analyzing</a:t>
            </a:r>
            <a:r>
              <a:rPr lang="en-IN" sz="2000" dirty="0"/>
              <a:t> student profiles, class data, assessment history, and performance to generate relevant recommendations.</a:t>
            </a:r>
          </a:p>
          <a:p>
            <a:pPr algn="just"/>
            <a:r>
              <a:rPr lang="en-IN" sz="2000" dirty="0"/>
              <a:t>Agentic AI also provides </a:t>
            </a:r>
            <a:r>
              <a:rPr lang="en-IN" sz="2000" b="1" dirty="0"/>
              <a:t>autonomous decision-making and real-time adaptation</a:t>
            </a:r>
            <a:r>
              <a:rPr lang="en-IN" sz="2000" dirty="0"/>
              <a:t>, allowing recommendations and remedial activities to change as new student data becomes available. With </a:t>
            </a:r>
            <a:r>
              <a:rPr lang="en-IN" sz="2000" b="1" dirty="0"/>
              <a:t>Human-in-the-Loop (HITL)</a:t>
            </a:r>
            <a:r>
              <a:rPr lang="en-IN" sz="2000" dirty="0"/>
              <a:t>, teachers can review and approve AI-generated content before it is assigned.</a:t>
            </a:r>
          </a:p>
          <a:p>
            <a:pPr algn="just"/>
            <a:r>
              <a:rPr lang="en-IN" sz="2000" dirty="0"/>
              <a:t>Overall, Agentic AI makes ShikshaFlow AI </a:t>
            </a:r>
            <a:r>
              <a:rPr lang="en-IN" sz="2000" b="1" dirty="0"/>
              <a:t>proactive, personalized, adaptive, and outcome-driven</a:t>
            </a:r>
            <a:r>
              <a:rPr lang="en-IN" sz="2000" dirty="0"/>
              <a:t>, acting as a </a:t>
            </a:r>
            <a:r>
              <a:rPr lang="en-IN" sz="2000" b="1" dirty="0"/>
              <a:t>smart digital teaching assistant</a:t>
            </a:r>
            <a:r>
              <a:rPr lang="en-IN" sz="2000" dirty="0"/>
              <a:t> for teachers and students.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E60D7-C8FB-1251-9E1A-89A61C4B1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352" y="998967"/>
            <a:ext cx="9834456" cy="55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ShikshaFlow AI combines </a:t>
            </a:r>
            <a:r>
              <a:rPr lang="en-IN" sz="2000" b="1" dirty="0"/>
              <a:t>Agentic AI, personalization, real-time analytics, and teacher-in-the-loop learning</a:t>
            </a:r>
            <a:r>
              <a:rPr lang="en-IN" sz="2000" dirty="0"/>
              <a:t> into one intelligent platform.</a:t>
            </a:r>
          </a:p>
          <a:p>
            <a:endParaRPr lang="en-IN" sz="2000" dirty="0"/>
          </a:p>
          <a:p>
            <a:pPr lvl="0"/>
            <a:r>
              <a:rPr lang="en-IN" sz="2000" b="1" dirty="0"/>
              <a:t>Multi-Agent Intelligence</a:t>
            </a:r>
            <a:r>
              <a:rPr lang="en-IN" sz="2000" dirty="0"/>
              <a:t> – Specialized agents handle content generation, assessment, feedback, analytics, and personalized recommendations. </a:t>
            </a:r>
          </a:p>
          <a:p>
            <a:pPr lvl="0"/>
            <a:r>
              <a:rPr lang="en-IN" sz="2000" b="1" dirty="0"/>
              <a:t>Context-Aware Learning</a:t>
            </a:r>
            <a:r>
              <a:rPr lang="en-IN" sz="2000" dirty="0"/>
              <a:t> – Uses student profiles and performance data to generate relevant learning support. </a:t>
            </a:r>
          </a:p>
          <a:p>
            <a:pPr lvl="0"/>
            <a:r>
              <a:rPr lang="en-IN" sz="2000" b="1" dirty="0"/>
              <a:t>Adaptive Personalization</a:t>
            </a:r>
            <a:r>
              <a:rPr lang="en-IN" sz="2000" dirty="0"/>
              <a:t> – Continuously updates learning recommendations based on new assessment results. </a:t>
            </a:r>
          </a:p>
          <a:p>
            <a:pPr lvl="0"/>
            <a:r>
              <a:rPr lang="en-IN" sz="2000" b="1" dirty="0"/>
              <a:t>Early Support Detection</a:t>
            </a:r>
            <a:r>
              <a:rPr lang="en-IN" sz="2000" dirty="0"/>
              <a:t> – Identifies weak areas and students needing remedial assistance. </a:t>
            </a:r>
          </a:p>
          <a:p>
            <a:pPr lvl="0"/>
            <a:r>
              <a:rPr lang="en-IN" sz="2000" b="1" dirty="0"/>
              <a:t>Teacher-in-the-Loop</a:t>
            </a:r>
            <a:r>
              <a:rPr lang="en-IN" sz="2000" dirty="0"/>
              <a:t> – Teachers review and approve AI-generated content and interventions. </a:t>
            </a:r>
          </a:p>
          <a:p>
            <a:pPr lvl="0"/>
            <a:r>
              <a:rPr lang="en-IN" sz="2000" b="1" dirty="0"/>
              <a:t>RAG-Based Resources</a:t>
            </a:r>
            <a:r>
              <a:rPr lang="en-IN" sz="2000" dirty="0"/>
              <a:t> – Retrieves relevant educational content from IBM </a:t>
            </a:r>
            <a:r>
              <a:rPr lang="en-IN" sz="2000" dirty="0" err="1"/>
              <a:t>SkillsBuild</a:t>
            </a:r>
            <a:r>
              <a:rPr lang="en-IN" sz="2000" dirty="0"/>
              <a:t> and OER. </a:t>
            </a:r>
          </a:p>
          <a:p>
            <a:pPr lvl="0"/>
            <a:r>
              <a:rPr lang="en-IN" sz="2000" b="1" dirty="0"/>
              <a:t>IBM-Powered AI</a:t>
            </a:r>
            <a:r>
              <a:rPr lang="en-IN" sz="2000" dirty="0"/>
              <a:t> – Combines </a:t>
            </a:r>
            <a:r>
              <a:rPr lang="en-IN" sz="2000" dirty="0" err="1"/>
              <a:t>Langflow</a:t>
            </a:r>
            <a:r>
              <a:rPr lang="en-IN" sz="2000" dirty="0"/>
              <a:t>, IBM Granite, IBM watsonx.ai, and IBM Cloud for an intelligent and scalable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b="1" dirty="0" err="1">
                <a:solidFill>
                  <a:srgbClr val="2B3541"/>
                </a:solidFill>
                <a:latin typeface="+mn-lt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b="1" dirty="0">
                <a:solidFill>
                  <a:srgbClr val="2B3541"/>
                </a:solidFill>
                <a:latin typeface="+mn-lt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200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https://github.com/SreerajNair305/ShikshaFlow-AI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042078" y="461132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042077" y="1299750"/>
            <a:ext cx="10876295" cy="5137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en-IN" sz="2000" b="1" dirty="0"/>
              <a:t>Multilingual Learning</a:t>
            </a:r>
            <a:r>
              <a:rPr lang="en-IN" sz="2000" dirty="0"/>
              <a:t> – Support Gujarati, Hindi, and other regional languages. </a:t>
            </a:r>
          </a:p>
          <a:p>
            <a:pPr lvl="0" algn="just"/>
            <a:r>
              <a:rPr lang="en-IN" sz="2000" b="1" dirty="0"/>
              <a:t>Voice &amp; Multimodal AI</a:t>
            </a:r>
            <a:r>
              <a:rPr lang="en-IN" sz="2000" dirty="0"/>
              <a:t> – Enable voice-based queries and image-based learning/assessment. </a:t>
            </a:r>
          </a:p>
          <a:p>
            <a:pPr lvl="0" algn="just"/>
            <a:r>
              <a:rPr lang="en-IN" sz="2000" b="1" dirty="0"/>
              <a:t>Advanced Personalization</a:t>
            </a:r>
            <a:r>
              <a:rPr lang="en-IN" sz="2000" dirty="0"/>
              <a:t> – Build deeper learner profiles using long-term learning patterns. </a:t>
            </a:r>
          </a:p>
          <a:p>
            <a:pPr lvl="0" algn="just"/>
            <a:r>
              <a:rPr lang="en-IN" sz="2000" b="1" dirty="0"/>
              <a:t>Predictive Analytics</a:t>
            </a:r>
            <a:r>
              <a:rPr lang="en-IN" sz="2000" dirty="0"/>
              <a:t> – Predict learning difficulties and identify at-risk students earlier. </a:t>
            </a:r>
          </a:p>
          <a:p>
            <a:pPr lvl="0" algn="just"/>
            <a:r>
              <a:rPr lang="en-IN" sz="2000" b="1" dirty="0"/>
              <a:t>Parent Dashboard</a:t>
            </a:r>
            <a:r>
              <a:rPr lang="en-IN" sz="2000" dirty="0"/>
              <a:t> – Provide parents with student progress and personalized insights. </a:t>
            </a:r>
          </a:p>
          <a:p>
            <a:pPr lvl="0" algn="just"/>
            <a:r>
              <a:rPr lang="en-IN" sz="2000" b="1" dirty="0"/>
              <a:t>Mobile Application</a:t>
            </a:r>
            <a:r>
              <a:rPr lang="en-IN" sz="2000" dirty="0"/>
              <a:t> – Extend ShikshaFlow AI to Android and low-connectivity environments. </a:t>
            </a:r>
          </a:p>
          <a:p>
            <a:pPr lvl="0" algn="just"/>
            <a:r>
              <a:rPr lang="en-IN" sz="2000" b="1" dirty="0"/>
              <a:t>Expanded RAG Knowledge Base</a:t>
            </a:r>
            <a:r>
              <a:rPr lang="en-IN" sz="2000" dirty="0"/>
              <a:t> – Integrate more OER, IBM </a:t>
            </a:r>
            <a:r>
              <a:rPr lang="en-IN" sz="2000" dirty="0" err="1"/>
              <a:t>SkillsBuild</a:t>
            </a:r>
            <a:r>
              <a:rPr lang="en-IN" sz="2000" dirty="0"/>
              <a:t>, textbooks, and curriculum resources. </a:t>
            </a:r>
          </a:p>
          <a:p>
            <a:pPr lvl="0" algn="just"/>
            <a:r>
              <a:rPr lang="en-IN" sz="2000" b="1" dirty="0"/>
              <a:t>Continuous AI Improvement</a:t>
            </a:r>
            <a:r>
              <a:rPr lang="en-IN" sz="2000" dirty="0"/>
              <a:t> – Use learning outcomes and feedback to improve recommendations over time. 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  <a:p>
            <a:pPr algn="ctr"/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05310-0DB5-B23E-2D88-ACCF37FCC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154" y="878417"/>
            <a:ext cx="7449590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8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800" dirty="0"/>
          </a:p>
          <a:p>
            <a:pPr algn="ctr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28F3FD-7D68-88CF-560C-2A73E8113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10" y="935182"/>
            <a:ext cx="10806546" cy="56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1117</Words>
  <Application>Microsoft Office PowerPoint</Application>
  <PresentationFormat>Widescreen</PresentationFormat>
  <Paragraphs>98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Shubham Kushwaha</cp:lastModifiedBy>
  <cp:revision>28</cp:revision>
  <dcterms:created xsi:type="dcterms:W3CDTF">2025-07-08T05:06:56Z</dcterms:created>
  <dcterms:modified xsi:type="dcterms:W3CDTF">2026-08-24T12:21:34Z</dcterms:modified>
</cp:coreProperties>
</file>