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1"/>
  </p:sldMasterIdLst>
  <p:notesMasterIdLst>
    <p:notesMasterId r:id="rId20"/>
  </p:notesMasterIdLst>
  <p:sldIdLst>
    <p:sldId id="283" r:id="rId2"/>
    <p:sldId id="257" r:id="rId3"/>
    <p:sldId id="282" r:id="rId4"/>
    <p:sldId id="285" r:id="rId5"/>
    <p:sldId id="278" r:id="rId6"/>
    <p:sldId id="281" r:id="rId7"/>
    <p:sldId id="279" r:id="rId8"/>
    <p:sldId id="262" r:id="rId9"/>
    <p:sldId id="264" r:id="rId10"/>
    <p:sldId id="277" r:id="rId11"/>
    <p:sldId id="286" r:id="rId12"/>
    <p:sldId id="287" r:id="rId13"/>
    <p:sldId id="280" r:id="rId14"/>
    <p:sldId id="288" r:id="rId15"/>
    <p:sldId id="290" r:id="rId16"/>
    <p:sldId id="291" r:id="rId17"/>
    <p:sldId id="289" r:id="rId18"/>
    <p:sldId id="276" r:id="rId19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27" roundtripDataSignature="AMtx7mjt3491jQ7aCoyIz2WXeHKroE7tp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0AAD8F4D-43EB-41E5-8A38-28AB6DFB1B60}">
  <a:tblStyle styleId="{0AAD8F4D-43EB-41E5-8A38-28AB6DFB1B60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/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737" autoAdjust="0"/>
  </p:normalViewPr>
  <p:slideViewPr>
    <p:cSldViewPr snapToGrid="0">
      <p:cViewPr varScale="1">
        <p:scale>
          <a:sx n="74" d="100"/>
          <a:sy n="74" d="100"/>
        </p:scale>
        <p:origin x="1013" y="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7" Type="http://customschemas.google.com/relationships/presentationmetadata" Target="metadata"/><Relationship Id="rId30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IN"/>
          </a:p>
        </p:txBody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9" name="Google Shape;89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IN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48C2B95B-FB15-C156-6AF1-35B3581816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3:notes">
            <a:extLst>
              <a:ext uri="{FF2B5EF4-FFF2-40B4-BE49-F238E27FC236}">
                <a16:creationId xmlns:a16="http://schemas.microsoft.com/office/drawing/2014/main" id="{770A13E9-BC77-63DA-E106-A3FA8022811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" name="Google Shape;102;p3:notes">
            <a:extLst>
              <a:ext uri="{FF2B5EF4-FFF2-40B4-BE49-F238E27FC236}">
                <a16:creationId xmlns:a16="http://schemas.microsoft.com/office/drawing/2014/main" id="{29067B0F-2F4F-7081-A661-0AE31BFBB78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60554109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E37D20EF-0791-5303-F96E-0F0C1B50B7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3:notes">
            <a:extLst>
              <a:ext uri="{FF2B5EF4-FFF2-40B4-BE49-F238E27FC236}">
                <a16:creationId xmlns:a16="http://schemas.microsoft.com/office/drawing/2014/main" id="{9DCBA8EB-6D71-7B5E-841C-4BFFBDA5F1B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" name="Google Shape;102;p3:notes">
            <a:extLst>
              <a:ext uri="{FF2B5EF4-FFF2-40B4-BE49-F238E27FC236}">
                <a16:creationId xmlns:a16="http://schemas.microsoft.com/office/drawing/2014/main" id="{5C2CD162-5BE5-06C8-E06C-B4A49D4BCFF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33135405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7">
          <a:extLst>
            <a:ext uri="{FF2B5EF4-FFF2-40B4-BE49-F238E27FC236}">
              <a16:creationId xmlns:a16="http://schemas.microsoft.com/office/drawing/2014/main" id="{11626E4B-E119-2382-6F8F-518641144E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10:notes">
            <a:extLst>
              <a:ext uri="{FF2B5EF4-FFF2-40B4-BE49-F238E27FC236}">
                <a16:creationId xmlns:a16="http://schemas.microsoft.com/office/drawing/2014/main" id="{01A6FF9F-971F-6CD8-61F5-25638A5985F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9" name="Google Shape;199;p10:notes">
            <a:extLst>
              <a:ext uri="{FF2B5EF4-FFF2-40B4-BE49-F238E27FC236}">
                <a16:creationId xmlns:a16="http://schemas.microsoft.com/office/drawing/2014/main" id="{C8EB5C80-6A4B-AE05-9BE0-03B5AF5C22A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68273657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8">
          <a:extLst>
            <a:ext uri="{FF2B5EF4-FFF2-40B4-BE49-F238E27FC236}">
              <a16:creationId xmlns:a16="http://schemas.microsoft.com/office/drawing/2014/main" id="{59B870D7-ED5B-C7CD-FB99-2991954CAA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5:notes">
            <a:extLst>
              <a:ext uri="{FF2B5EF4-FFF2-40B4-BE49-F238E27FC236}">
                <a16:creationId xmlns:a16="http://schemas.microsoft.com/office/drawing/2014/main" id="{C8B270BB-F67C-52E3-249C-6FE0C237CA9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0" name="Google Shape;130;p5:notes">
            <a:extLst>
              <a:ext uri="{FF2B5EF4-FFF2-40B4-BE49-F238E27FC236}">
                <a16:creationId xmlns:a16="http://schemas.microsoft.com/office/drawing/2014/main" id="{151B863E-6240-36E9-EB23-2DAA667D251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07985781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0">
          <a:extLst>
            <a:ext uri="{FF2B5EF4-FFF2-40B4-BE49-F238E27FC236}">
              <a16:creationId xmlns:a16="http://schemas.microsoft.com/office/drawing/2014/main" id="{279463AA-D7FA-5F7E-C4D0-06BDEDCBB9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p7:notes">
            <a:extLst>
              <a:ext uri="{FF2B5EF4-FFF2-40B4-BE49-F238E27FC236}">
                <a16:creationId xmlns:a16="http://schemas.microsoft.com/office/drawing/2014/main" id="{A84E3171-2C5C-8738-5718-5608CE1B13A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2" name="Google Shape;172;p7:notes">
            <a:extLst>
              <a:ext uri="{FF2B5EF4-FFF2-40B4-BE49-F238E27FC236}">
                <a16:creationId xmlns:a16="http://schemas.microsoft.com/office/drawing/2014/main" id="{E16E406D-2512-5EF2-0167-6C895346954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3496662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p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2" name="Google Shape;172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IN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0" name="Google Shape;190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IN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1">
          <a:extLst>
            <a:ext uri="{FF2B5EF4-FFF2-40B4-BE49-F238E27FC236}">
              <a16:creationId xmlns:a16="http://schemas.microsoft.com/office/drawing/2014/main" id="{FB18EFA4-CD13-16C4-504B-6DB7E86CE0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Google Shape;272;p18:notes">
            <a:extLst>
              <a:ext uri="{FF2B5EF4-FFF2-40B4-BE49-F238E27FC236}">
                <a16:creationId xmlns:a16="http://schemas.microsoft.com/office/drawing/2014/main" id="{E8E16183-6BFA-E60A-1235-F3BFB1B1F6E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3" name="Google Shape;273;p18:notes">
            <a:extLst>
              <a:ext uri="{FF2B5EF4-FFF2-40B4-BE49-F238E27FC236}">
                <a16:creationId xmlns:a16="http://schemas.microsoft.com/office/drawing/2014/main" id="{C4420B06-3455-3F20-5E28-90535F24DA2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96517532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7">
          <a:extLst>
            <a:ext uri="{FF2B5EF4-FFF2-40B4-BE49-F238E27FC236}">
              <a16:creationId xmlns:a16="http://schemas.microsoft.com/office/drawing/2014/main" id="{C2F88CF5-D0C3-0228-6C1A-E849738B9B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10:notes">
            <a:extLst>
              <a:ext uri="{FF2B5EF4-FFF2-40B4-BE49-F238E27FC236}">
                <a16:creationId xmlns:a16="http://schemas.microsoft.com/office/drawing/2014/main" id="{15C41DBA-EB5E-9EB1-28D2-68EF3081A29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9" name="Google Shape;199;p10:notes">
            <a:extLst>
              <a:ext uri="{FF2B5EF4-FFF2-40B4-BE49-F238E27FC236}">
                <a16:creationId xmlns:a16="http://schemas.microsoft.com/office/drawing/2014/main" id="{9AACA92E-BC74-25E5-B8D5-2E658F81C2F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05758711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1">
          <a:extLst>
            <a:ext uri="{FF2B5EF4-FFF2-40B4-BE49-F238E27FC236}">
              <a16:creationId xmlns:a16="http://schemas.microsoft.com/office/drawing/2014/main" id="{A795C14E-5D6A-39A3-2018-2C72BB451B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Google Shape;272;p18:notes">
            <a:extLst>
              <a:ext uri="{FF2B5EF4-FFF2-40B4-BE49-F238E27FC236}">
                <a16:creationId xmlns:a16="http://schemas.microsoft.com/office/drawing/2014/main" id="{85B8BB2F-0927-3841-AC64-CC67B503586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3" name="Google Shape;273;p18:notes">
            <a:extLst>
              <a:ext uri="{FF2B5EF4-FFF2-40B4-BE49-F238E27FC236}">
                <a16:creationId xmlns:a16="http://schemas.microsoft.com/office/drawing/2014/main" id="{58797E72-A3BC-0A49-07C4-DE7FDA75236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05207868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1">
          <a:extLst>
            <a:ext uri="{FF2B5EF4-FFF2-40B4-BE49-F238E27FC236}">
              <a16:creationId xmlns:a16="http://schemas.microsoft.com/office/drawing/2014/main" id="{466C47D1-19F6-52AF-3914-DD3C990589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Google Shape;272;p18:notes">
            <a:extLst>
              <a:ext uri="{FF2B5EF4-FFF2-40B4-BE49-F238E27FC236}">
                <a16:creationId xmlns:a16="http://schemas.microsoft.com/office/drawing/2014/main" id="{ACA1F779-4C2B-4CD1-FBDD-A40F0A32234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3" name="Google Shape;273;p18:notes">
            <a:extLst>
              <a:ext uri="{FF2B5EF4-FFF2-40B4-BE49-F238E27FC236}">
                <a16:creationId xmlns:a16="http://schemas.microsoft.com/office/drawing/2014/main" id="{40004D30-6E86-E263-D5DA-7577B1C759B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622169396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2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5" name="Google Shape;305;p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IN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23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23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0" name="Google Shape;20;p2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1" name="Google Shape;21;p2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2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24"/>
          <p:cNvSpPr txBox="1"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24"/>
          <p:cNvSpPr txBox="1"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26" name="Google Shape;26;p24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24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8" name="Google Shape;28;p2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25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25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2" name="Google Shape;32;p25"/>
          <p:cNvSpPr txBox="1">
            <a:spLocks noGrp="1"/>
          </p:cNvSpPr>
          <p:nvPr>
            <p:ph type="body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3" name="Google Shape;33;p25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4" name="Google Shape;34;p25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25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26"/>
          <p:cNvSpPr txBox="1"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26"/>
          <p:cNvSpPr txBox="1"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39" name="Google Shape;39;p26"/>
          <p:cNvSpPr txBox="1">
            <a:spLocks noGrp="1"/>
          </p:cNvSpPr>
          <p:nvPr>
            <p:ph type="body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0" name="Google Shape;40;p26"/>
          <p:cNvSpPr txBox="1">
            <a:spLocks noGrp="1"/>
          </p:cNvSpPr>
          <p:nvPr>
            <p:ph type="body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1" name="Google Shape;41;p26"/>
          <p:cNvSpPr txBox="1">
            <a:spLocks noGrp="1"/>
          </p:cNvSpPr>
          <p:nvPr>
            <p:ph type="body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2" name="Google Shape;42;p26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3" name="Google Shape;43;p26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4" name="Google Shape;44;p26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27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27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27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9" name="Google Shape;49;p27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28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28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28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29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29"/>
          <p:cNvSpPr txBox="1">
            <a:spLocks noGrp="1"/>
          </p:cNvSpPr>
          <p:nvPr>
            <p:ph type="body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marL="1371600" lvl="2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57" name="Google Shape;57;p29"/>
          <p:cNvSpPr txBox="1"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58" name="Google Shape;58;p29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29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29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30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30"/>
          <p:cNvSpPr>
            <a:spLocks noGrp="1"/>
          </p:cNvSpPr>
          <p:nvPr>
            <p:ph type="pic" idx="2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endParaRPr lang="en-IN"/>
          </a:p>
        </p:txBody>
      </p:sp>
      <p:sp>
        <p:nvSpPr>
          <p:cNvPr id="64" name="Google Shape;64;p30"/>
          <p:cNvSpPr txBox="1">
            <a:spLocks noGrp="1"/>
          </p:cNvSpPr>
          <p:nvPr>
            <p:ph type="body" idx="1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65" name="Google Shape;65;p30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30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30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31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31"/>
          <p:cNvSpPr txBox="1">
            <a:spLocks noGrp="1"/>
          </p:cNvSpPr>
          <p:nvPr>
            <p:ph type="body" idx="1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1" name="Google Shape;71;p31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31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3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32"/>
          <p:cNvSpPr txBox="1">
            <a:spLocks noGrp="1"/>
          </p:cNvSpPr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32"/>
          <p:cNvSpPr txBox="1">
            <a:spLocks noGrp="1"/>
          </p:cNvSpPr>
          <p:nvPr>
            <p:ph type="body" idx="1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p32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32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32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21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" name="Google Shape;7;p21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p21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" name="Google Shape;9;p21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" name="Google Shape;10;p2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50" r:id="rId1"/>
    <p:sldLayoutId id="2147483651" r:id="rId2"/>
    <p:sldLayoutId id="2147483652" r:id="rId3"/>
    <p:sldLayoutId id="2147483653" r:id="rId4"/>
    <p:sldLayoutId id="2147483654" r:id="rId5"/>
    <p:sldLayoutId id="2147483655" r:id="rId6"/>
    <p:sldLayoutId id="2147483656" r:id="rId7"/>
    <p:sldLayoutId id="2147483657" r:id="rId8"/>
    <p:sldLayoutId id="2147483658" r:id="rId9"/>
    <p:sldLayoutId id="2147483659" r:id="rId10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F97BF8-B3EC-77A2-9BFD-D66830272D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6600" b="1" dirty="0"/>
              <a:t>IBM University Engagement Project Submission</a:t>
            </a:r>
            <a:br>
              <a:rPr lang="en-US" b="1" dirty="0"/>
            </a:br>
            <a:endParaRPr lang="en-IN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FAB85A1-2169-FF43-3E91-E2E8ADA742F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014730" y="3903663"/>
            <a:ext cx="10515600" cy="1500187"/>
          </a:xfrm>
        </p:spPr>
        <p:txBody>
          <a:bodyPr/>
          <a:lstStyle/>
          <a:p>
            <a:pPr algn="ctr"/>
            <a:r>
              <a:rPr lang="en-US" b="1" i="1"/>
              <a:t>“Exploring the Power of Agentic AI with IBM Granite and </a:t>
            </a:r>
            <a:r>
              <a:rPr lang="en-US" b="1" i="1" err="1"/>
              <a:t>LangFlow</a:t>
            </a:r>
            <a:r>
              <a:rPr lang="en-US" b="1" i="1"/>
              <a:t>”</a:t>
            </a:r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95756464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2"/>
          <p:cNvSpPr/>
          <p:nvPr/>
        </p:nvSpPr>
        <p:spPr>
          <a:xfrm>
            <a:off x="690624" y="4425370"/>
            <a:ext cx="10795794" cy="1992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Calibri"/>
              <a:buNone/>
            </a:pPr>
            <a:endParaRPr sz="1500" b="0" i="0" u="none" strike="noStrike" cap="none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95" name="Google Shape;95;p2"/>
          <p:cNvSpPr txBox="1"/>
          <p:nvPr/>
        </p:nvSpPr>
        <p:spPr>
          <a:xfrm>
            <a:off x="1102321" y="1174639"/>
            <a:ext cx="7426406" cy="4515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060"/>
              </a:buClr>
              <a:buSzPts val="3200"/>
              <a:buFont typeface="Times New Roman"/>
              <a:buNone/>
            </a:pPr>
            <a:endParaRPr sz="3200" b="1" i="0" u="none" strike="noStrike" cap="none">
              <a:solidFill>
                <a:srgbClr val="00206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graphicFrame>
        <p:nvGraphicFramePr>
          <p:cNvPr id="96" name="Google Shape;96;p2"/>
          <p:cNvGraphicFramePr/>
          <p:nvPr>
            <p:extLst>
              <p:ext uri="{D42A27DB-BD31-4B8C-83A1-F6EECF244321}">
                <p14:modId xmlns:p14="http://schemas.microsoft.com/office/powerpoint/2010/main" val="1587211272"/>
              </p:ext>
            </p:extLst>
          </p:nvPr>
        </p:nvGraphicFramePr>
        <p:xfrm>
          <a:off x="179557" y="2305881"/>
          <a:ext cx="11817927" cy="3843279"/>
        </p:xfrm>
        <a:graphic>
          <a:graphicData uri="http://schemas.openxmlformats.org/drawingml/2006/table">
            <a:tbl>
              <a:tblPr>
                <a:noFill/>
                <a:tableStyleId>{0AAD8F4D-43EB-41E5-8A38-28AB6DFB1B60}</a:tableStyleId>
              </a:tblPr>
              <a:tblGrid>
                <a:gridCol w="305184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7485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53244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15878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1725981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 u="none" strike="noStrike" cap="none" dirty="0"/>
                        <a:t>Student Name</a:t>
                      </a:r>
                      <a:endParaRPr sz="2000" u="none" strike="noStrike" cap="none" dirty="0"/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5B9BD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 u="none" strike="noStrike" cap="none" dirty="0"/>
                        <a:t>Recent Passport Photo</a:t>
                      </a:r>
                      <a:endParaRPr sz="2000" u="none" strike="noStrike" cap="none" dirty="0"/>
                    </a:p>
                  </a:txBody>
                  <a:tcPr marL="91450" marR="91450" marT="45725" marB="45725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5B9BD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b="0" i="0" u="none" strike="noStrike" cap="none">
                          <a:solidFill>
                            <a:srgbClr val="000000"/>
                          </a:solidFill>
                          <a:latin typeface="Arial"/>
                          <a:ea typeface="Calibri"/>
                          <a:cs typeface="Arial"/>
                          <a:sym typeface="Calibri"/>
                        </a:rPr>
                        <a:t>Email ID </a:t>
                      </a:r>
                      <a:endParaRPr sz="2000" b="0" i="0" u="none" strike="noStrike" cap="none">
                        <a:solidFill>
                          <a:srgbClr val="000000"/>
                        </a:solidFill>
                        <a:latin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5B9BD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800"/>
                        <a:buFont typeface="Calibri"/>
                        <a:buNone/>
                      </a:pPr>
                      <a:r>
                        <a:rPr lang="en-US" sz="20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Calibri"/>
                          <a:cs typeface="Arial"/>
                          <a:sym typeface="Calibri"/>
                        </a:rPr>
                        <a:t>Mobile number</a:t>
                      </a:r>
                      <a:endParaRPr sz="2000" b="0" i="0" u="none" strike="noStrike" cap="none" dirty="0">
                        <a:solidFill>
                          <a:srgbClr val="000000"/>
                        </a:solidFill>
                        <a:latin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5B9BD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17298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 dirty="0"/>
                        <a:t>Sudeep Kushwaha Dolaprasad</a:t>
                      </a:r>
                      <a:endParaRPr sz="2000" dirty="0"/>
                    </a:p>
                  </a:txBody>
                  <a:tcPr marL="91450" marR="91450" marT="45725" marB="45725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0DEE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0" dirty="0"/>
                    </a:p>
                  </a:txBody>
                  <a:tcPr marL="91450" marR="91450" marT="45725" marB="45725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0DEE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 dirty="0"/>
                        <a:t>sk.sudeepkushwaha0000@gmail.com</a:t>
                      </a:r>
                      <a:endParaRPr sz="2000" dirty="0"/>
                    </a:p>
                  </a:txBody>
                  <a:tcPr marL="91450" marR="91450" marT="45725" marB="45725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0DEE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 dirty="0"/>
                        <a:t>7984796457</a:t>
                      </a:r>
                      <a:endParaRPr sz="2000" dirty="0"/>
                    </a:p>
                  </a:txBody>
                  <a:tcPr marL="91450" marR="91450" marT="45725" marB="45725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0DE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A828B9EF-C084-F5D4-CA27-75AF7D995640}"/>
              </a:ext>
            </a:extLst>
          </p:cNvPr>
          <p:cNvSpPr txBox="1"/>
          <p:nvPr/>
        </p:nvSpPr>
        <p:spPr>
          <a:xfrm>
            <a:off x="1206164" y="1460724"/>
            <a:ext cx="1028025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Domain of  Project – </a:t>
            </a:r>
            <a:r>
              <a:rPr lang="en-IN" sz="2400" dirty="0"/>
              <a:t>Education </a:t>
            </a:r>
            <a:endParaRPr lang="en-IN" sz="2400" b="1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D723CA3-EC2D-165A-F109-3759C4E9C8A4}"/>
              </a:ext>
            </a:extLst>
          </p:cNvPr>
          <p:cNvSpPr txBox="1"/>
          <p:nvPr/>
        </p:nvSpPr>
        <p:spPr>
          <a:xfrm>
            <a:off x="1206162" y="551965"/>
            <a:ext cx="9581177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Project Title – </a:t>
            </a:r>
            <a:r>
              <a:rPr lang="en-IN" sz="2400" dirty="0"/>
              <a:t>AI-Powered Personalized Learning &amp; Teacher Assistant Platform</a:t>
            </a:r>
            <a:endParaRPr lang="en-IN" sz="2400" b="1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00FBD438-308F-620A-7C53-CC0C591D23D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14080" y="4227521"/>
            <a:ext cx="1373557" cy="1701407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>
          <a:extLst>
            <a:ext uri="{FF2B5EF4-FFF2-40B4-BE49-F238E27FC236}">
              <a16:creationId xmlns:a16="http://schemas.microsoft.com/office/drawing/2014/main" id="{F4C0A7C6-2888-EA53-35AB-4072E6B1FD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6F6745E-14BA-0766-CE1E-32E29663832D}"/>
              </a:ext>
            </a:extLst>
          </p:cNvPr>
          <p:cNvSpPr txBox="1"/>
          <p:nvPr/>
        </p:nvSpPr>
        <p:spPr>
          <a:xfrm>
            <a:off x="576072" y="1608513"/>
            <a:ext cx="10607040" cy="49244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 fontAlgn="base"/>
            <a:r>
              <a:rPr lang="en-US" sz="2000" b="1" dirty="0"/>
              <a:t>The Challenge</a:t>
            </a:r>
            <a:r>
              <a:rPr lang="en-US" sz="2000" dirty="0"/>
              <a:t> </a:t>
            </a:r>
          </a:p>
          <a:p>
            <a:pPr algn="just"/>
            <a:r>
              <a:rPr lang="en-IN" sz="2000" dirty="0"/>
              <a:t>Many government and rural schools in Gujarat face diverse student learning levels, limited personalized resources, increasing teacher workload, and inadequate real-time performance insights. Teachers need AI support to create lessons, assess students, and provide personalized learning assistance.</a:t>
            </a:r>
          </a:p>
          <a:p>
            <a:pPr algn="just" fontAlgn="base"/>
            <a:endParaRPr lang="en-US" sz="2000" dirty="0"/>
          </a:p>
          <a:p>
            <a:pPr algn="just" fontAlgn="base"/>
            <a:r>
              <a:rPr lang="en-US" sz="2000" b="1" dirty="0"/>
              <a:t>The Objective</a:t>
            </a:r>
            <a:r>
              <a:rPr lang="en-US" sz="2000" dirty="0"/>
              <a:t> :</a:t>
            </a:r>
          </a:p>
          <a:p>
            <a:pPr lvl="0" algn="just"/>
            <a:r>
              <a:rPr lang="en-IN" sz="2000" b="1" dirty="0"/>
              <a:t>Personalized Learning</a:t>
            </a:r>
            <a:r>
              <a:rPr lang="en-IN" sz="2000" dirty="0"/>
              <a:t> – Recommend learning activities based on student performance. </a:t>
            </a:r>
          </a:p>
          <a:p>
            <a:pPr lvl="0" algn="just"/>
            <a:r>
              <a:rPr lang="en-IN" sz="2000" b="1" dirty="0"/>
              <a:t>AI Content Generation</a:t>
            </a:r>
            <a:r>
              <a:rPr lang="en-IN" sz="2000" dirty="0"/>
              <a:t> – Generate lesson plans, worksheets, and questions. </a:t>
            </a:r>
          </a:p>
          <a:p>
            <a:pPr lvl="0" algn="just"/>
            <a:r>
              <a:rPr lang="en-IN" sz="2000" b="1" dirty="0"/>
              <a:t>Assessment &amp; Feedback</a:t>
            </a:r>
            <a:r>
              <a:rPr lang="en-IN" sz="2000" dirty="0"/>
              <a:t> – Evaluate answers and provide instant feedback. </a:t>
            </a:r>
          </a:p>
          <a:p>
            <a:pPr lvl="0" algn="just"/>
            <a:r>
              <a:rPr lang="en-IN" sz="2000" b="1" dirty="0"/>
              <a:t>Performance Analytics</a:t>
            </a:r>
            <a:r>
              <a:rPr lang="en-IN" sz="2000" dirty="0"/>
              <a:t> – Identify weak areas and students needing support. </a:t>
            </a:r>
          </a:p>
          <a:p>
            <a:pPr lvl="0" algn="just"/>
            <a:r>
              <a:rPr lang="en-IN" sz="2000" b="1" dirty="0"/>
              <a:t>Multi-Agent System</a:t>
            </a:r>
            <a:r>
              <a:rPr lang="en-IN" sz="2000" dirty="0"/>
              <a:t> – Use specialized agents for learning recommendations, content generation, assessment, analytics, and teacher assistance. </a:t>
            </a:r>
          </a:p>
          <a:p>
            <a:pPr lvl="0" algn="just"/>
            <a:r>
              <a:rPr lang="en-IN" sz="2000" b="1" dirty="0"/>
              <a:t>Learning Resources</a:t>
            </a:r>
            <a:r>
              <a:rPr lang="en-IN" sz="2000" dirty="0"/>
              <a:t> – Integrate IBM </a:t>
            </a:r>
            <a:r>
              <a:rPr lang="en-IN" sz="2000" dirty="0" err="1"/>
              <a:t>SkillsBuild</a:t>
            </a:r>
            <a:r>
              <a:rPr lang="en-IN" sz="2000" dirty="0"/>
              <a:t> and OER resources. </a:t>
            </a:r>
          </a:p>
          <a:p>
            <a:pPr lvl="0" algn="just"/>
            <a:r>
              <a:rPr lang="en-IN" sz="2000" b="1" dirty="0"/>
              <a:t>Teacher Dashboard</a:t>
            </a:r>
            <a:r>
              <a:rPr lang="en-IN" sz="2000" dirty="0"/>
              <a:t> – Provide student progress and actionable AI insights.</a:t>
            </a:r>
          </a:p>
          <a:p>
            <a:pPr algn="just"/>
            <a:endParaRPr lang="en-IN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847FA31-EA47-D27A-9D69-AF50A3080AEC}"/>
              </a:ext>
            </a:extLst>
          </p:cNvPr>
          <p:cNvSpPr txBox="1"/>
          <p:nvPr/>
        </p:nvSpPr>
        <p:spPr>
          <a:xfrm>
            <a:off x="576072" y="408184"/>
            <a:ext cx="11404646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Problem Statement -</a:t>
            </a:r>
            <a:r>
              <a:rPr lang="en-IN" sz="2800" dirty="0"/>
              <a:t>AI-Powered Personalized Learning &amp; Teacher Assistant Platform </a:t>
            </a:r>
          </a:p>
          <a:p>
            <a:endParaRPr lang="en-IN" sz="2800" b="1" dirty="0"/>
          </a:p>
        </p:txBody>
      </p:sp>
    </p:spTree>
    <p:extLst>
      <p:ext uri="{BB962C8B-B14F-4D97-AF65-F5344CB8AC3E}">
        <p14:creationId xmlns:p14="http://schemas.microsoft.com/office/powerpoint/2010/main" val="295258420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>
          <a:extLst>
            <a:ext uri="{FF2B5EF4-FFF2-40B4-BE49-F238E27FC236}">
              <a16:creationId xmlns:a16="http://schemas.microsoft.com/office/drawing/2014/main" id="{0471B467-61AA-7BCA-460D-43041E805F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A1BF701-ABCA-4DF0-8330-B6AF71EF8E39}"/>
              </a:ext>
            </a:extLst>
          </p:cNvPr>
          <p:cNvSpPr txBox="1"/>
          <p:nvPr/>
        </p:nvSpPr>
        <p:spPr>
          <a:xfrm>
            <a:off x="648808" y="880496"/>
            <a:ext cx="10607040" cy="62478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2000" dirty="0"/>
              <a:t>An Agentic AI-powered education platform that connects teachers, classes, and students through personalized learning and intelligent classroom support.</a:t>
            </a:r>
          </a:p>
          <a:p>
            <a:endParaRPr lang="en-IN" sz="2000" dirty="0"/>
          </a:p>
          <a:p>
            <a:r>
              <a:rPr lang="en-IN" sz="2000" dirty="0"/>
              <a:t>The platform will:</a:t>
            </a:r>
          </a:p>
          <a:p>
            <a:pPr lvl="0"/>
            <a:r>
              <a:rPr lang="en-IN" sz="2000" b="1" dirty="0"/>
              <a:t>Manage Teachers, Classes &amp; Students</a:t>
            </a:r>
            <a:r>
              <a:rPr lang="en-IN" sz="2000" dirty="0"/>
              <a:t> – Provide role-based dashboards for managing classes, students, tasks, and progress. </a:t>
            </a:r>
          </a:p>
          <a:p>
            <a:pPr lvl="0"/>
            <a:r>
              <a:rPr lang="en-IN" sz="2000" b="1" dirty="0"/>
              <a:t>Personalize Learning</a:t>
            </a:r>
            <a:r>
              <a:rPr lang="en-IN" sz="2000" dirty="0"/>
              <a:t> – </a:t>
            </a:r>
            <a:r>
              <a:rPr lang="en-IN" sz="2000" dirty="0" err="1"/>
              <a:t>Analyze</a:t>
            </a:r>
            <a:r>
              <a:rPr lang="en-IN" sz="2000" dirty="0"/>
              <a:t> student performance and recommend suitable topics, activities, and resources. </a:t>
            </a:r>
          </a:p>
          <a:p>
            <a:pPr lvl="0"/>
            <a:r>
              <a:rPr lang="en-IN" sz="2000" b="1" dirty="0"/>
              <a:t>Assist Teachers</a:t>
            </a:r>
            <a:r>
              <a:rPr lang="en-IN" sz="2000" dirty="0"/>
              <a:t> – Generate lesson plans, worksheets, questions, and classroom activities using AI. </a:t>
            </a:r>
          </a:p>
          <a:p>
            <a:pPr lvl="0"/>
            <a:r>
              <a:rPr lang="en-IN" sz="2000" b="1" dirty="0"/>
              <a:t>Automate Assessment</a:t>
            </a:r>
            <a:r>
              <a:rPr lang="en-IN" sz="2000" dirty="0"/>
              <a:t> – Evaluate student responses, identify mistakes, and provide instant feedback. </a:t>
            </a:r>
          </a:p>
          <a:p>
            <a:pPr lvl="0"/>
            <a:r>
              <a:rPr lang="en-IN" sz="2000" b="1" dirty="0" err="1"/>
              <a:t>Analyze</a:t>
            </a:r>
            <a:r>
              <a:rPr lang="en-IN" sz="2000" b="1" dirty="0"/>
              <a:t> Performance</a:t>
            </a:r>
            <a:r>
              <a:rPr lang="en-IN" sz="2000" dirty="0"/>
              <a:t> – Track scores, attendance, task completion, and learning trends to identify weak areas. </a:t>
            </a:r>
          </a:p>
          <a:p>
            <a:pPr lvl="0"/>
            <a:r>
              <a:rPr lang="en-IN" sz="2000" b="1" dirty="0"/>
              <a:t>Provide Student Support</a:t>
            </a:r>
            <a:r>
              <a:rPr lang="en-IN" sz="2000" dirty="0"/>
              <a:t> – Detect students requiring additional attention and suggest appropriate interventions. </a:t>
            </a:r>
          </a:p>
          <a:p>
            <a:pPr lvl="0"/>
            <a:r>
              <a:rPr lang="en-IN" sz="2000" b="1" dirty="0"/>
              <a:t>Integrate Learning Resources</a:t>
            </a:r>
            <a:r>
              <a:rPr lang="en-IN" sz="2000" dirty="0"/>
              <a:t> – Recommend relevant IBM </a:t>
            </a:r>
            <a:r>
              <a:rPr lang="en-IN" sz="2000" dirty="0" err="1"/>
              <a:t>SkillsBuild</a:t>
            </a:r>
            <a:r>
              <a:rPr lang="en-IN" sz="2000" dirty="0"/>
              <a:t> and OER resources. </a:t>
            </a:r>
          </a:p>
          <a:p>
            <a:pPr lvl="0"/>
            <a:r>
              <a:rPr lang="en-IN" sz="2000" b="1" dirty="0"/>
              <a:t>Use Agentic AI</a:t>
            </a:r>
            <a:r>
              <a:rPr lang="en-IN" sz="2000" dirty="0"/>
              <a:t> – Deploy specialized AI agents for content generation, assessment, analytics, personalization, and teacher assistance.</a:t>
            </a:r>
          </a:p>
          <a:p>
            <a:endParaRPr lang="en-IN" sz="20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27F30CC-07EF-8FCC-DA00-C9212F5DAECE}"/>
              </a:ext>
            </a:extLst>
          </p:cNvPr>
          <p:cNvSpPr txBox="1"/>
          <p:nvPr/>
        </p:nvSpPr>
        <p:spPr>
          <a:xfrm>
            <a:off x="648808" y="403443"/>
            <a:ext cx="7214616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Proposed Solution - </a:t>
            </a:r>
            <a:r>
              <a:rPr lang="en-IN" sz="2800" b="1" dirty="0"/>
              <a:t>ShikshaFlow AI </a:t>
            </a:r>
          </a:p>
          <a:p>
            <a:endParaRPr lang="en-IN" sz="2800" b="1" dirty="0"/>
          </a:p>
        </p:txBody>
      </p:sp>
    </p:spTree>
    <p:extLst>
      <p:ext uri="{BB962C8B-B14F-4D97-AF65-F5344CB8AC3E}">
        <p14:creationId xmlns:p14="http://schemas.microsoft.com/office/powerpoint/2010/main" val="229029499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0">
          <a:extLst>
            <a:ext uri="{FF2B5EF4-FFF2-40B4-BE49-F238E27FC236}">
              <a16:creationId xmlns:a16="http://schemas.microsoft.com/office/drawing/2014/main" id="{7C2A09DE-0AE2-AA94-B2C1-84FDBDB9DC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51FBD4A-3273-E454-091D-D5B0678FC299}"/>
              </a:ext>
            </a:extLst>
          </p:cNvPr>
          <p:cNvSpPr txBox="1"/>
          <p:nvPr/>
        </p:nvSpPr>
        <p:spPr>
          <a:xfrm>
            <a:off x="777240" y="484632"/>
            <a:ext cx="7123176" cy="523220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en-US" sz="2800" b="1" dirty="0"/>
              <a:t>Technology Used</a:t>
            </a:r>
            <a:endParaRPr lang="en-IN" sz="2800" b="1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A7608B5-9906-EFCF-959A-E89FC2E3EE19}"/>
              </a:ext>
            </a:extLst>
          </p:cNvPr>
          <p:cNvSpPr txBox="1"/>
          <p:nvPr/>
        </p:nvSpPr>
        <p:spPr>
          <a:xfrm>
            <a:off x="777239" y="1207008"/>
            <a:ext cx="11141133" cy="347787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lvl="0" algn="just"/>
            <a:r>
              <a:rPr lang="en-IN" sz="2000" b="1" dirty="0"/>
              <a:t>IBM Granite LLM</a:t>
            </a:r>
            <a:r>
              <a:rPr lang="en-IN" sz="2000" dirty="0"/>
              <a:t> – For natural language understanding, reasoning, content generation, and personalized learning recommendations. </a:t>
            </a:r>
          </a:p>
          <a:p>
            <a:pPr lvl="0" algn="just"/>
            <a:r>
              <a:rPr lang="en-IN" sz="2000" b="1" dirty="0"/>
              <a:t>IBM Cloud</a:t>
            </a:r>
            <a:r>
              <a:rPr lang="en-IN" sz="2000" dirty="0"/>
              <a:t> – Provides a secure, scalable, and reliable infrastructure for deploying the AI platform and services. </a:t>
            </a:r>
          </a:p>
          <a:p>
            <a:pPr lvl="0" algn="just"/>
            <a:r>
              <a:rPr lang="en-IN" sz="2000" b="1" dirty="0"/>
              <a:t>RAG (Retrieval-Augmented Generation)</a:t>
            </a:r>
            <a:r>
              <a:rPr lang="en-IN" sz="2000" dirty="0"/>
              <a:t> – Retrieves relevant learning information from trusted sources before generating AI responses. </a:t>
            </a:r>
          </a:p>
          <a:p>
            <a:pPr lvl="0" algn="just"/>
            <a:r>
              <a:rPr lang="en-IN" sz="2000" b="1" dirty="0"/>
              <a:t>IBM watsonx.ai</a:t>
            </a:r>
            <a:r>
              <a:rPr lang="en-IN" sz="2000" dirty="0"/>
              <a:t> – For AI model deployment, inference, and AI governance. </a:t>
            </a:r>
          </a:p>
          <a:p>
            <a:pPr lvl="0" algn="just"/>
            <a:r>
              <a:rPr lang="en-IN" sz="2000" dirty="0"/>
              <a:t>Vector Database (FAISS/Chroma) – Stores and retrieves embeddings of learning resources for RAG-based knowledge retrieval. </a:t>
            </a:r>
          </a:p>
          <a:p>
            <a:pPr lvl="0" algn="just"/>
            <a:r>
              <a:rPr lang="en-IN" sz="2000" b="1" dirty="0"/>
              <a:t>IBM </a:t>
            </a:r>
            <a:r>
              <a:rPr lang="en-IN" sz="2000" b="1" dirty="0" err="1"/>
              <a:t>SkillsBuild</a:t>
            </a:r>
            <a:r>
              <a:rPr lang="en-IN" sz="2000" b="1" dirty="0"/>
              <a:t> &amp; OER</a:t>
            </a:r>
            <a:r>
              <a:rPr lang="en-IN" sz="2000" dirty="0"/>
              <a:t> – Provides educational resources and learning materials for students and teachers. </a:t>
            </a:r>
          </a:p>
        </p:txBody>
      </p:sp>
    </p:spTree>
    <p:extLst>
      <p:ext uri="{BB962C8B-B14F-4D97-AF65-F5344CB8AC3E}">
        <p14:creationId xmlns:p14="http://schemas.microsoft.com/office/powerpoint/2010/main" val="37644058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1">
          <a:extLst>
            <a:ext uri="{FF2B5EF4-FFF2-40B4-BE49-F238E27FC236}">
              <a16:creationId xmlns:a16="http://schemas.microsoft.com/office/drawing/2014/main" id="{CDF2A78E-5A0E-6814-8AF4-0AE54B0366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5">
            <a:extLst>
              <a:ext uri="{FF2B5EF4-FFF2-40B4-BE49-F238E27FC236}">
                <a16:creationId xmlns:a16="http://schemas.microsoft.com/office/drawing/2014/main" id="{2A145802-2DD3-EEBA-7D44-210C05B98C91}"/>
              </a:ext>
            </a:extLst>
          </p:cNvPr>
          <p:cNvSpPr/>
          <p:nvPr/>
        </p:nvSpPr>
        <p:spPr>
          <a:xfrm>
            <a:off x="537590" y="323239"/>
            <a:ext cx="5908929" cy="4485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51D3A"/>
              </a:buClr>
              <a:buSzPts val="3500"/>
              <a:buFont typeface="Times New Roman"/>
              <a:buNone/>
            </a:pPr>
            <a:r>
              <a:rPr lang="en-US" sz="2800" b="1" dirty="0" err="1">
                <a:sym typeface="Times New Roman"/>
              </a:rPr>
              <a:t>Langflow</a:t>
            </a:r>
            <a:r>
              <a:rPr lang="en-US" sz="2800" b="1" i="0" u="none" strike="noStrike" cap="none" dirty="0">
                <a:solidFill>
                  <a:srgbClr val="051D3A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2800" b="1" dirty="0">
                <a:sym typeface="Times New Roman"/>
              </a:rPr>
              <a:t>component Used </a:t>
            </a:r>
            <a:endParaRPr sz="2800" b="1" dirty="0">
              <a:sym typeface="Times New Roman"/>
            </a:endParaRPr>
          </a:p>
        </p:txBody>
      </p:sp>
      <p:sp>
        <p:nvSpPr>
          <p:cNvPr id="148" name="Google Shape;148;p5">
            <a:extLst>
              <a:ext uri="{FF2B5EF4-FFF2-40B4-BE49-F238E27FC236}">
                <a16:creationId xmlns:a16="http://schemas.microsoft.com/office/drawing/2014/main" id="{69E3EADC-1EAD-7419-145C-20998925206E}"/>
              </a:ext>
            </a:extLst>
          </p:cNvPr>
          <p:cNvSpPr/>
          <p:nvPr/>
        </p:nvSpPr>
        <p:spPr>
          <a:xfrm>
            <a:off x="2264331" y="6784578"/>
            <a:ext cx="2140744" cy="2241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09375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endParaRPr sz="1600" b="0" i="0" u="none" strike="noStrike" cap="non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49" name="Google Shape;149;p5">
            <a:extLst>
              <a:ext uri="{FF2B5EF4-FFF2-40B4-BE49-F238E27FC236}">
                <a16:creationId xmlns:a16="http://schemas.microsoft.com/office/drawing/2014/main" id="{04E5872A-C331-C8F3-5D71-8E953BAAFE03}"/>
              </a:ext>
            </a:extLst>
          </p:cNvPr>
          <p:cNvSpPr/>
          <p:nvPr/>
        </p:nvSpPr>
        <p:spPr>
          <a:xfrm>
            <a:off x="1782604" y="7100213"/>
            <a:ext cx="3104198" cy="7318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1875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endParaRPr sz="1600" b="0" i="0" u="none" strike="noStrike" cap="non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50" name="Google Shape;150;p5">
            <a:extLst>
              <a:ext uri="{FF2B5EF4-FFF2-40B4-BE49-F238E27FC236}">
                <a16:creationId xmlns:a16="http://schemas.microsoft.com/office/drawing/2014/main" id="{76EF3801-5D99-5EFA-9AA2-AD265775E354}"/>
              </a:ext>
            </a:extLst>
          </p:cNvPr>
          <p:cNvSpPr/>
          <p:nvPr/>
        </p:nvSpPr>
        <p:spPr>
          <a:xfrm>
            <a:off x="5732383" y="6784578"/>
            <a:ext cx="1793915" cy="2241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09375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endParaRPr sz="1600" b="0" i="0" u="none" strike="noStrike" cap="non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51" name="Google Shape;151;p5">
            <a:extLst>
              <a:ext uri="{FF2B5EF4-FFF2-40B4-BE49-F238E27FC236}">
                <a16:creationId xmlns:a16="http://schemas.microsoft.com/office/drawing/2014/main" id="{DAD76A8A-9F2C-9EA9-25E9-40CD0FFAA869}"/>
              </a:ext>
            </a:extLst>
          </p:cNvPr>
          <p:cNvSpPr/>
          <p:nvPr/>
        </p:nvSpPr>
        <p:spPr>
          <a:xfrm>
            <a:off x="5077301" y="7100213"/>
            <a:ext cx="3104198" cy="7318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1875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endParaRPr sz="1600" b="0" i="0" u="none" strike="noStrike" cap="non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52" name="Google Shape;152;p5">
            <a:extLst>
              <a:ext uri="{FF2B5EF4-FFF2-40B4-BE49-F238E27FC236}">
                <a16:creationId xmlns:a16="http://schemas.microsoft.com/office/drawing/2014/main" id="{8D9C4260-2673-337C-C898-4C22E0F8FD65}"/>
              </a:ext>
            </a:extLst>
          </p:cNvPr>
          <p:cNvSpPr/>
          <p:nvPr/>
        </p:nvSpPr>
        <p:spPr>
          <a:xfrm>
            <a:off x="9027081" y="6784578"/>
            <a:ext cx="1793915" cy="2241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09375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endParaRPr sz="1600" b="0" i="0" u="none" strike="noStrike" cap="non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53" name="Google Shape;153;p5">
            <a:extLst>
              <a:ext uri="{FF2B5EF4-FFF2-40B4-BE49-F238E27FC236}">
                <a16:creationId xmlns:a16="http://schemas.microsoft.com/office/drawing/2014/main" id="{6167C3C6-3747-E373-84C3-3927C443B067}"/>
              </a:ext>
            </a:extLst>
          </p:cNvPr>
          <p:cNvSpPr/>
          <p:nvPr/>
        </p:nvSpPr>
        <p:spPr>
          <a:xfrm>
            <a:off x="8371999" y="7100213"/>
            <a:ext cx="3104198" cy="7318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1875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endParaRPr sz="1600" b="0" i="0" u="none" strike="noStrike" cap="non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BB86949-7ED1-C43B-B1E3-5122BB67A596}"/>
              </a:ext>
            </a:extLst>
          </p:cNvPr>
          <p:cNvSpPr txBox="1"/>
          <p:nvPr/>
        </p:nvSpPr>
        <p:spPr>
          <a:xfrm>
            <a:off x="474822" y="863187"/>
            <a:ext cx="11453942" cy="68634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2000" b="1" dirty="0"/>
              <a:t>1) Chat Input</a:t>
            </a:r>
            <a:r>
              <a:rPr lang="en-IN" sz="2000" dirty="0"/>
              <a:t> – Interface where teachers or students enter their queries, requirements, or learning-related questions.</a:t>
            </a:r>
          </a:p>
          <a:p>
            <a:r>
              <a:rPr lang="en-IN" sz="2000" b="1" dirty="0"/>
              <a:t>2) AI Agent</a:t>
            </a:r>
            <a:r>
              <a:rPr lang="en-IN" sz="2000" dirty="0"/>
              <a:t> – Processes user input and routes it to the appropriate specialized agent for personalized learning, content generation, assessment, feedback, or teacher assistance.</a:t>
            </a:r>
          </a:p>
          <a:p>
            <a:r>
              <a:rPr lang="en-IN" sz="2000" b="1" dirty="0"/>
              <a:t>3) IBM Granite Model</a:t>
            </a:r>
            <a:r>
              <a:rPr lang="en-IN" sz="2000" dirty="0"/>
              <a:t> – </a:t>
            </a:r>
            <a:r>
              <a:rPr lang="en-IN" sz="2000" b="1" dirty="0"/>
              <a:t>Granite-3.2-8B-Instruct</a:t>
            </a:r>
            <a:r>
              <a:rPr lang="en-IN" sz="2000" dirty="0"/>
              <a:t> → Used for natural language understanding, reasoning, content generation, and personalized recommendations.</a:t>
            </a:r>
          </a:p>
          <a:p>
            <a:r>
              <a:rPr lang="en-IN" sz="2000" b="1" dirty="0"/>
              <a:t>4) Chat Output</a:t>
            </a:r>
            <a:r>
              <a:rPr lang="en-IN" sz="2000" dirty="0"/>
              <a:t> – Displays AI-generated responses such as lesson plans, learning recommendations, assessment results, feedback, and student insights.</a:t>
            </a:r>
          </a:p>
          <a:p>
            <a:r>
              <a:rPr lang="en-IN" sz="2000" b="1" dirty="0"/>
              <a:t>5) File/Data Component</a:t>
            </a:r>
            <a:r>
              <a:rPr lang="en-IN" sz="2000" dirty="0"/>
              <a:t> – Stores and retrieves student profiles, class data, tasks, submissions, performance records, and learning resources.</a:t>
            </a:r>
          </a:p>
          <a:p>
            <a:r>
              <a:rPr lang="en-IN" sz="2000" b="1" dirty="0"/>
              <a:t>6) Prompt Template</a:t>
            </a:r>
            <a:r>
              <a:rPr lang="en-IN" sz="2000" dirty="0"/>
              <a:t> – Combines the user's request with relevant class, student, and performance context to generate accurate and personalized AI responses.</a:t>
            </a:r>
          </a:p>
          <a:p>
            <a:r>
              <a:rPr lang="en-IN" sz="2000" b="1" dirty="0"/>
              <a:t>7) JSON Parser</a:t>
            </a:r>
            <a:r>
              <a:rPr lang="en-IN" sz="2000" dirty="0"/>
              <a:t> – Processes and validates structured AI outputs such as questions, scores, feedback, and recommendations before displaying them in the application.</a:t>
            </a:r>
          </a:p>
          <a:p>
            <a:pPr marL="342900" indent="-342900">
              <a:buAutoNum type="arabicParenR" startAt="3"/>
            </a:pPr>
            <a:endParaRPr lang="en-US" sz="2000" dirty="0"/>
          </a:p>
          <a:p>
            <a:endParaRPr lang="en-US" sz="2000" dirty="0"/>
          </a:p>
          <a:p>
            <a:endParaRPr lang="en-US" sz="2000" dirty="0"/>
          </a:p>
          <a:p>
            <a:endParaRPr lang="en-US" sz="2000" dirty="0"/>
          </a:p>
          <a:p>
            <a:endParaRPr lang="en-US" sz="2000" dirty="0"/>
          </a:p>
          <a:p>
            <a:endParaRPr lang="en-US" sz="2000" dirty="0"/>
          </a:p>
          <a:p>
            <a:endParaRPr lang="en-US" sz="2000" dirty="0"/>
          </a:p>
          <a:p>
            <a:r>
              <a:rPr lang="en-US" sz="2000" dirty="0"/>
              <a:t> </a:t>
            </a:r>
            <a:endParaRPr lang="en-IN" sz="2000" dirty="0"/>
          </a:p>
        </p:txBody>
      </p:sp>
    </p:spTree>
    <p:extLst>
      <p:ext uri="{BB962C8B-B14F-4D97-AF65-F5344CB8AC3E}">
        <p14:creationId xmlns:p14="http://schemas.microsoft.com/office/powerpoint/2010/main" val="32852639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3">
          <a:extLst>
            <a:ext uri="{FF2B5EF4-FFF2-40B4-BE49-F238E27FC236}">
              <a16:creationId xmlns:a16="http://schemas.microsoft.com/office/drawing/2014/main" id="{CA6090C0-0478-84F9-6D20-717B6FEB73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35;p5">
            <a:extLst>
              <a:ext uri="{FF2B5EF4-FFF2-40B4-BE49-F238E27FC236}">
                <a16:creationId xmlns:a16="http://schemas.microsoft.com/office/drawing/2014/main" id="{B64CF172-D2AF-03D8-F919-AA7827A0D969}"/>
              </a:ext>
            </a:extLst>
          </p:cNvPr>
          <p:cNvSpPr/>
          <p:nvPr/>
        </p:nvSpPr>
        <p:spPr>
          <a:xfrm>
            <a:off x="537590" y="323239"/>
            <a:ext cx="5908929" cy="4485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51D3A"/>
              </a:buClr>
              <a:buSzPts val="3500"/>
              <a:buFont typeface="Times New Roman"/>
              <a:buNone/>
            </a:pPr>
            <a:r>
              <a:rPr lang="en-US" sz="2800" b="1" dirty="0" err="1">
                <a:latin typeface="+mj-lt"/>
                <a:sym typeface="Times New Roman"/>
              </a:rPr>
              <a:t>LangFlow</a:t>
            </a:r>
            <a:r>
              <a:rPr lang="en-US" sz="2800" b="1" i="0" u="none" strike="noStrike" cap="none" dirty="0">
                <a:solidFill>
                  <a:srgbClr val="051D3A"/>
                </a:solidFill>
                <a:latin typeface="+mj-lt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2800" b="1" dirty="0">
                <a:latin typeface="+mj-lt"/>
                <a:sym typeface="Times New Roman"/>
              </a:rPr>
              <a:t>workflow </a:t>
            </a:r>
            <a:endParaRPr sz="2800" b="1" dirty="0">
              <a:latin typeface="+mj-lt"/>
              <a:sym typeface="Times New Roman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0183991-1C6E-62D8-FCDC-B66A22AC9AC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646092"/>
            <a:ext cx="12192000" cy="35658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7250191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35;p5">
            <a:extLst>
              <a:ext uri="{FF2B5EF4-FFF2-40B4-BE49-F238E27FC236}">
                <a16:creationId xmlns:a16="http://schemas.microsoft.com/office/drawing/2014/main" id="{78578745-3233-E2C4-2AF4-55BA57C68D3F}"/>
              </a:ext>
            </a:extLst>
          </p:cNvPr>
          <p:cNvSpPr/>
          <p:nvPr/>
        </p:nvSpPr>
        <p:spPr>
          <a:xfrm>
            <a:off x="537590" y="323239"/>
            <a:ext cx="5908929" cy="4485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lvl="0"/>
            <a:r>
              <a:rPr lang="en-US" sz="2800" b="1" dirty="0">
                <a:solidFill>
                  <a:schemeClr val="dk1"/>
                </a:solidFill>
                <a:latin typeface="+mj-lt"/>
                <a:ea typeface="Calibri"/>
                <a:cs typeface="Calibri"/>
                <a:sym typeface="Calibri"/>
              </a:rPr>
              <a:t>Architecture blueprint</a:t>
            </a:r>
            <a:endParaRPr lang="en-US" sz="2800" dirty="0">
              <a:latin typeface="+mj-lt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F532D17-007E-A638-B924-1D2B0A0534E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5989" r="5989"/>
          <a:stretch>
            <a:fillRect/>
          </a:stretch>
        </p:blipFill>
        <p:spPr>
          <a:xfrm>
            <a:off x="0" y="898396"/>
            <a:ext cx="12192000" cy="5315368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84A7B44-8B20-5A39-ED43-DA98D0FC7976}"/>
              </a:ext>
            </a:extLst>
          </p:cNvPr>
          <p:cNvSpPr txBox="1"/>
          <p:nvPr/>
        </p:nvSpPr>
        <p:spPr>
          <a:xfrm>
            <a:off x="475488" y="283464"/>
            <a:ext cx="931773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/>
              <a:t>Role of Agentic AI </a:t>
            </a:r>
            <a:r>
              <a:rPr lang="en-US" sz="2800" b="1" dirty="0"/>
              <a:t>in</a:t>
            </a:r>
            <a:r>
              <a:rPr lang="en-US" sz="3200" b="1" dirty="0"/>
              <a:t> the solution </a:t>
            </a:r>
            <a:endParaRPr lang="en-IN" sz="3200" b="1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22462E8-EB3A-DA7D-44CB-4E757803A755}"/>
              </a:ext>
            </a:extLst>
          </p:cNvPr>
          <p:cNvSpPr txBox="1"/>
          <p:nvPr/>
        </p:nvSpPr>
        <p:spPr>
          <a:xfrm>
            <a:off x="621792" y="1167493"/>
            <a:ext cx="11109544" cy="47089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IN" sz="2000" b="1" dirty="0"/>
              <a:t>Agentic AI</a:t>
            </a:r>
            <a:r>
              <a:rPr lang="en-IN" sz="2000" dirty="0"/>
              <a:t> enables ShikshaFlow AI to work as an </a:t>
            </a:r>
            <a:r>
              <a:rPr lang="en-IN" sz="2000" b="1" dirty="0"/>
              <a:t>intelligent, autonomous, and adaptive education system</a:t>
            </a:r>
            <a:r>
              <a:rPr lang="en-IN" sz="2000" dirty="0"/>
              <a:t> rather than a simple chatbot. Using </a:t>
            </a:r>
            <a:r>
              <a:rPr lang="en-IN" sz="2000" b="1" dirty="0" err="1"/>
              <a:t>Langflow</a:t>
            </a:r>
            <a:r>
              <a:rPr lang="en-IN" sz="2000" b="1" dirty="0"/>
              <a:t>, IBM watsonx.ai, IBM Granite, RAG, and IBM Cloud</a:t>
            </a:r>
            <a:r>
              <a:rPr lang="en-IN" sz="2000" dirty="0"/>
              <a:t>, multiple specialized agents collaborate to provide personalized learning and teacher assistance.</a:t>
            </a:r>
          </a:p>
          <a:p>
            <a:pPr algn="just"/>
            <a:r>
              <a:rPr lang="en-IN" sz="2000" dirty="0"/>
              <a:t>Each agent performs a specific role—such as </a:t>
            </a:r>
            <a:r>
              <a:rPr lang="en-IN" sz="2000" b="1" dirty="0"/>
              <a:t>content generation, student performance analysis, automated assessment, feedback, and personalized recommendations</a:t>
            </a:r>
            <a:r>
              <a:rPr lang="en-IN" sz="2000" dirty="0"/>
              <a:t>—through coordinated </a:t>
            </a:r>
            <a:r>
              <a:rPr lang="en-IN" sz="2000" b="1" dirty="0"/>
              <a:t>multi-agent workflows</a:t>
            </a:r>
            <a:r>
              <a:rPr lang="en-IN" sz="2000" dirty="0"/>
              <a:t>. The system uses </a:t>
            </a:r>
            <a:r>
              <a:rPr lang="en-IN" sz="2000" b="1" dirty="0"/>
              <a:t>context awareness</a:t>
            </a:r>
            <a:r>
              <a:rPr lang="en-IN" sz="2000" dirty="0"/>
              <a:t> by </a:t>
            </a:r>
            <a:r>
              <a:rPr lang="en-IN" sz="2000" dirty="0" err="1"/>
              <a:t>analyzing</a:t>
            </a:r>
            <a:r>
              <a:rPr lang="en-IN" sz="2000" dirty="0"/>
              <a:t> student profiles, class data, assessment history, and performance to generate relevant recommendations.</a:t>
            </a:r>
          </a:p>
          <a:p>
            <a:pPr algn="just"/>
            <a:r>
              <a:rPr lang="en-IN" sz="2000" dirty="0"/>
              <a:t>Agentic AI also provides </a:t>
            </a:r>
            <a:r>
              <a:rPr lang="en-IN" sz="2000" b="1" dirty="0"/>
              <a:t>autonomous decision-making and real-time adaptation</a:t>
            </a:r>
            <a:r>
              <a:rPr lang="en-IN" sz="2000" dirty="0"/>
              <a:t>, allowing recommendations and remedial activities to change as new student data becomes available. With </a:t>
            </a:r>
            <a:r>
              <a:rPr lang="en-IN" sz="2000" b="1" dirty="0"/>
              <a:t>Human-in-the-Loop (HITL)</a:t>
            </a:r>
            <a:r>
              <a:rPr lang="en-IN" sz="2000" dirty="0"/>
              <a:t>, teachers can review and approve AI-generated content before it is assigned.</a:t>
            </a:r>
          </a:p>
          <a:p>
            <a:pPr algn="just"/>
            <a:r>
              <a:rPr lang="en-IN" sz="2000" dirty="0"/>
              <a:t>Overall, Agentic AI makes ShikshaFlow AI </a:t>
            </a:r>
            <a:r>
              <a:rPr lang="en-IN" sz="2000" b="1" dirty="0"/>
              <a:t>proactive, personalized, adaptive, and outcome-driven</a:t>
            </a:r>
            <a:r>
              <a:rPr lang="en-IN" sz="2000" dirty="0"/>
              <a:t>, acting as a </a:t>
            </a:r>
            <a:r>
              <a:rPr lang="en-IN" sz="2000" b="1" dirty="0"/>
              <a:t>smart digital teaching assistant</a:t>
            </a:r>
            <a:r>
              <a:rPr lang="en-IN" sz="2000" dirty="0"/>
              <a:t> for teachers and students.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4">
          <a:extLst>
            <a:ext uri="{FF2B5EF4-FFF2-40B4-BE49-F238E27FC236}">
              <a16:creationId xmlns:a16="http://schemas.microsoft.com/office/drawing/2014/main" id="{55016524-E738-3D8C-3BB2-B0BE7C6653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Google Shape;278;p18">
            <a:extLst>
              <a:ext uri="{FF2B5EF4-FFF2-40B4-BE49-F238E27FC236}">
                <a16:creationId xmlns:a16="http://schemas.microsoft.com/office/drawing/2014/main" id="{D62F03A8-A8A8-CB93-006E-7173DC866F6F}"/>
              </a:ext>
            </a:extLst>
          </p:cNvPr>
          <p:cNvSpPr/>
          <p:nvPr/>
        </p:nvSpPr>
        <p:spPr>
          <a:xfrm>
            <a:off x="793192" y="341560"/>
            <a:ext cx="6444496" cy="7040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>
              <a:lnSpc>
                <a:spcPct val="157142"/>
              </a:lnSpc>
              <a:buClr>
                <a:srgbClr val="051D3A"/>
              </a:buClr>
              <a:buSzPts val="3500"/>
            </a:pPr>
            <a:r>
              <a:rPr lang="en-US" sz="2800" b="1" dirty="0">
                <a:sym typeface="Times New Roman"/>
              </a:rPr>
              <a:t>Token Usage </a:t>
            </a:r>
            <a:endParaRPr sz="2800" b="1" dirty="0">
              <a:sym typeface="Times New Roman"/>
            </a:endParaRPr>
          </a:p>
        </p:txBody>
      </p:sp>
      <p:sp>
        <p:nvSpPr>
          <p:cNvPr id="280" name="Google Shape;280;p18">
            <a:extLst>
              <a:ext uri="{FF2B5EF4-FFF2-40B4-BE49-F238E27FC236}">
                <a16:creationId xmlns:a16="http://schemas.microsoft.com/office/drawing/2014/main" id="{A4423EF4-BB52-2693-03DD-9F7D92D05218}"/>
              </a:ext>
            </a:extLst>
          </p:cNvPr>
          <p:cNvSpPr/>
          <p:nvPr/>
        </p:nvSpPr>
        <p:spPr>
          <a:xfrm>
            <a:off x="1218724" y="3360216"/>
            <a:ext cx="7468553" cy="766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2162"/>
              </a:lnSpc>
              <a:spcBef>
                <a:spcPts val="0"/>
              </a:spcBef>
              <a:spcAft>
                <a:spcPts val="0"/>
              </a:spcAft>
              <a:buClr>
                <a:srgbClr val="2B3541"/>
              </a:buClr>
              <a:buSzPts val="1850"/>
              <a:buFont typeface="Times New Roman"/>
              <a:buNone/>
            </a:pPr>
            <a:r>
              <a:rPr lang="en-US" sz="1850" b="0" i="0" u="none" strike="noStrike" cap="none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·</a:t>
            </a:r>
            <a:endParaRPr sz="1850" b="0" i="0" u="none" strike="noStrike" cap="non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81" name="Google Shape;281;p18">
            <a:extLst>
              <a:ext uri="{FF2B5EF4-FFF2-40B4-BE49-F238E27FC236}">
                <a16:creationId xmlns:a16="http://schemas.microsoft.com/office/drawing/2014/main" id="{FF042814-8077-DBD5-E8B6-E0D870CADB86}"/>
              </a:ext>
            </a:extLst>
          </p:cNvPr>
          <p:cNvSpPr/>
          <p:nvPr/>
        </p:nvSpPr>
        <p:spPr>
          <a:xfrm>
            <a:off x="1218724" y="4395464"/>
            <a:ext cx="7468553" cy="766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2162"/>
              </a:lnSpc>
              <a:spcBef>
                <a:spcPts val="0"/>
              </a:spcBef>
              <a:spcAft>
                <a:spcPts val="0"/>
              </a:spcAft>
              <a:buClr>
                <a:srgbClr val="2B3541"/>
              </a:buClr>
              <a:buSzPts val="1850"/>
              <a:buFont typeface="Times New Roman"/>
              <a:buNone/>
            </a:pPr>
            <a:r>
              <a:rPr lang="en-US" sz="1850" b="0" i="0" u="none" strike="noStrike" cap="none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·</a:t>
            </a:r>
            <a:endParaRPr sz="1850" b="0" i="0" u="none" strike="noStrike" cap="non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82" name="Google Shape;282;p18">
            <a:extLst>
              <a:ext uri="{FF2B5EF4-FFF2-40B4-BE49-F238E27FC236}">
                <a16:creationId xmlns:a16="http://schemas.microsoft.com/office/drawing/2014/main" id="{6A2761AF-8A54-98F2-52C2-794D9BA61C92}"/>
              </a:ext>
            </a:extLst>
          </p:cNvPr>
          <p:cNvSpPr/>
          <p:nvPr/>
        </p:nvSpPr>
        <p:spPr>
          <a:xfrm>
            <a:off x="1218724" y="5430713"/>
            <a:ext cx="7468553" cy="3830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2162"/>
              </a:lnSpc>
              <a:spcBef>
                <a:spcPts val="0"/>
              </a:spcBef>
              <a:spcAft>
                <a:spcPts val="0"/>
              </a:spcAft>
              <a:buClr>
                <a:srgbClr val="2B3541"/>
              </a:buClr>
              <a:buSzPts val="1850"/>
              <a:buFont typeface="Times New Roman"/>
              <a:buNone/>
            </a:pPr>
            <a:r>
              <a:rPr lang="en-US" sz="1850" b="0" i="0" u="none" strike="noStrike" cap="none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·</a:t>
            </a:r>
            <a:endParaRPr sz="1850" b="0" i="0" u="none" strike="noStrike" cap="non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A1E60D7-C8FB-1251-9E1A-89A61C4B1ED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64352" y="998967"/>
            <a:ext cx="9834456" cy="55687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1548487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0">
          <a:extLst>
            <a:ext uri="{FF2B5EF4-FFF2-40B4-BE49-F238E27FC236}">
              <a16:creationId xmlns:a16="http://schemas.microsoft.com/office/drawing/2014/main" id="{EEDEC80F-FA4E-F3FF-DE90-87B861D0BD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FA184BA-BCF2-3D7B-30D0-0F3CF30C161B}"/>
              </a:ext>
            </a:extLst>
          </p:cNvPr>
          <p:cNvSpPr txBox="1"/>
          <p:nvPr/>
        </p:nvSpPr>
        <p:spPr>
          <a:xfrm>
            <a:off x="777240" y="484632"/>
            <a:ext cx="712317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Novelty and Uniqueness</a:t>
            </a:r>
            <a:endParaRPr lang="en-IN" sz="2800" b="1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D65F54F-855A-0DB6-09A6-3212C5F7405B}"/>
              </a:ext>
            </a:extLst>
          </p:cNvPr>
          <p:cNvSpPr txBox="1"/>
          <p:nvPr/>
        </p:nvSpPr>
        <p:spPr>
          <a:xfrm>
            <a:off x="777240" y="1207008"/>
            <a:ext cx="11301984" cy="44012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2000" dirty="0"/>
              <a:t>ShikshaFlow AI combines </a:t>
            </a:r>
            <a:r>
              <a:rPr lang="en-IN" sz="2000" b="1" dirty="0"/>
              <a:t>Agentic AI, personalization, real-time analytics, and teacher-in-the-loop learning</a:t>
            </a:r>
            <a:r>
              <a:rPr lang="en-IN" sz="2000" dirty="0"/>
              <a:t> into one intelligent platform.</a:t>
            </a:r>
          </a:p>
          <a:p>
            <a:endParaRPr lang="en-IN" sz="2000" dirty="0"/>
          </a:p>
          <a:p>
            <a:pPr lvl="0"/>
            <a:r>
              <a:rPr lang="en-IN" sz="2000" b="1" dirty="0"/>
              <a:t>Multi-Agent Intelligence</a:t>
            </a:r>
            <a:r>
              <a:rPr lang="en-IN" sz="2000" dirty="0"/>
              <a:t> – Specialized agents handle content generation, assessment, feedback, analytics, and personalized recommendations. </a:t>
            </a:r>
          </a:p>
          <a:p>
            <a:pPr lvl="0"/>
            <a:r>
              <a:rPr lang="en-IN" sz="2000" b="1" dirty="0"/>
              <a:t>Context-Aware Learning</a:t>
            </a:r>
            <a:r>
              <a:rPr lang="en-IN" sz="2000" dirty="0"/>
              <a:t> – Uses student profiles and performance data to generate relevant learning support. </a:t>
            </a:r>
          </a:p>
          <a:p>
            <a:pPr lvl="0"/>
            <a:r>
              <a:rPr lang="en-IN" sz="2000" b="1" dirty="0"/>
              <a:t>Adaptive Personalization</a:t>
            </a:r>
            <a:r>
              <a:rPr lang="en-IN" sz="2000" dirty="0"/>
              <a:t> – Continuously updates learning recommendations based on new assessment results. </a:t>
            </a:r>
          </a:p>
          <a:p>
            <a:pPr lvl="0"/>
            <a:r>
              <a:rPr lang="en-IN" sz="2000" b="1" dirty="0"/>
              <a:t>Early Support Detection</a:t>
            </a:r>
            <a:r>
              <a:rPr lang="en-IN" sz="2000" dirty="0"/>
              <a:t> – Identifies weak areas and students needing remedial assistance. </a:t>
            </a:r>
          </a:p>
          <a:p>
            <a:pPr lvl="0"/>
            <a:r>
              <a:rPr lang="en-IN" sz="2000" b="1" dirty="0"/>
              <a:t>Teacher-in-the-Loop</a:t>
            </a:r>
            <a:r>
              <a:rPr lang="en-IN" sz="2000" dirty="0"/>
              <a:t> – Teachers review and approve AI-generated content and interventions. </a:t>
            </a:r>
          </a:p>
          <a:p>
            <a:pPr lvl="0"/>
            <a:r>
              <a:rPr lang="en-IN" sz="2000" b="1" dirty="0"/>
              <a:t>RAG-Based Resources</a:t>
            </a:r>
            <a:r>
              <a:rPr lang="en-IN" sz="2000" dirty="0"/>
              <a:t> – Retrieves relevant educational content from IBM </a:t>
            </a:r>
            <a:r>
              <a:rPr lang="en-IN" sz="2000" dirty="0" err="1"/>
              <a:t>SkillsBuild</a:t>
            </a:r>
            <a:r>
              <a:rPr lang="en-IN" sz="2000" dirty="0"/>
              <a:t> and OER. </a:t>
            </a:r>
          </a:p>
          <a:p>
            <a:pPr lvl="0"/>
            <a:r>
              <a:rPr lang="en-IN" sz="2000" b="1" dirty="0"/>
              <a:t>IBM-Powered AI</a:t>
            </a:r>
            <a:r>
              <a:rPr lang="en-IN" sz="2000" dirty="0"/>
              <a:t> – Combines </a:t>
            </a:r>
            <a:r>
              <a:rPr lang="en-IN" sz="2000" dirty="0" err="1"/>
              <a:t>Langflow</a:t>
            </a:r>
            <a:r>
              <a:rPr lang="en-IN" sz="2000" dirty="0"/>
              <a:t>, IBM Granite, IBM watsonx.ai, and IBM Cloud for an intelligent and scalable architecture.</a:t>
            </a:r>
          </a:p>
        </p:txBody>
      </p:sp>
    </p:spTree>
    <p:extLst>
      <p:ext uri="{BB962C8B-B14F-4D97-AF65-F5344CB8AC3E}">
        <p14:creationId xmlns:p14="http://schemas.microsoft.com/office/powerpoint/2010/main" val="91796410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4">
          <a:extLst>
            <a:ext uri="{FF2B5EF4-FFF2-40B4-BE49-F238E27FC236}">
              <a16:creationId xmlns:a16="http://schemas.microsoft.com/office/drawing/2014/main" id="{7BB3C0CA-2F24-30DF-1D65-4440B864F0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Google Shape;278;p18">
            <a:extLst>
              <a:ext uri="{FF2B5EF4-FFF2-40B4-BE49-F238E27FC236}">
                <a16:creationId xmlns:a16="http://schemas.microsoft.com/office/drawing/2014/main" id="{187EEB9C-2E84-113A-3CE6-1507BF5B039F}"/>
              </a:ext>
            </a:extLst>
          </p:cNvPr>
          <p:cNvSpPr/>
          <p:nvPr/>
        </p:nvSpPr>
        <p:spPr>
          <a:xfrm>
            <a:off x="1218724" y="420729"/>
            <a:ext cx="6444496" cy="7040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57142"/>
              </a:lnSpc>
              <a:spcBef>
                <a:spcPts val="0"/>
              </a:spcBef>
              <a:spcAft>
                <a:spcPts val="0"/>
              </a:spcAft>
              <a:buClr>
                <a:srgbClr val="051D3A"/>
              </a:buClr>
              <a:buSzPts val="3500"/>
              <a:buFont typeface="Times New Roman"/>
              <a:buNone/>
            </a:pPr>
            <a:r>
              <a:rPr lang="en-US" sz="2800" b="1" dirty="0">
                <a:sym typeface="Times New Roman"/>
              </a:rPr>
              <a:t>Git Hub Link</a:t>
            </a:r>
            <a:endParaRPr sz="2800" b="1" dirty="0">
              <a:sym typeface="Times New Roman"/>
            </a:endParaRPr>
          </a:p>
        </p:txBody>
      </p:sp>
      <p:sp>
        <p:nvSpPr>
          <p:cNvPr id="279" name="Google Shape;279;p18">
            <a:extLst>
              <a:ext uri="{FF2B5EF4-FFF2-40B4-BE49-F238E27FC236}">
                <a16:creationId xmlns:a16="http://schemas.microsoft.com/office/drawing/2014/main" id="{3711AF54-94A6-B837-31EF-9A8C4ECB9AF6}"/>
              </a:ext>
            </a:extLst>
          </p:cNvPr>
          <p:cNvSpPr/>
          <p:nvPr/>
        </p:nvSpPr>
        <p:spPr>
          <a:xfrm>
            <a:off x="1218724" y="1153712"/>
            <a:ext cx="9214580" cy="42770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lvl="0">
              <a:lnSpc>
                <a:spcPct val="162162"/>
              </a:lnSpc>
              <a:buClr>
                <a:srgbClr val="2B3541"/>
              </a:buClr>
              <a:buSzPts val="1850"/>
            </a:pPr>
            <a:r>
              <a:rPr lang="en-US" sz="2000" b="1" dirty="0" err="1">
                <a:solidFill>
                  <a:srgbClr val="2B3541"/>
                </a:solidFill>
                <a:latin typeface="+mn-lt"/>
                <a:ea typeface="Times New Roman"/>
                <a:cs typeface="Times New Roman"/>
                <a:sym typeface="Times New Roman"/>
              </a:rPr>
              <a:t>Github</a:t>
            </a:r>
            <a:r>
              <a:rPr lang="en-US" sz="2000" b="1" dirty="0">
                <a:solidFill>
                  <a:srgbClr val="2B3541"/>
                </a:solidFill>
                <a:latin typeface="+mn-lt"/>
                <a:ea typeface="Times New Roman"/>
                <a:cs typeface="Times New Roman"/>
                <a:sym typeface="Times New Roman"/>
              </a:rPr>
              <a:t> URL </a:t>
            </a:r>
            <a:r>
              <a:rPr lang="en-US" sz="2000" b="1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– https://github.com/sudeep62/ShikshaFlow-AI</a:t>
            </a:r>
            <a:endParaRPr lang="en-US" sz="2000" b="1" dirty="0">
              <a:solidFill>
                <a:srgbClr val="2B3541"/>
              </a:solidFill>
              <a:latin typeface="Times New Roman"/>
              <a:ea typeface="Times New Roman"/>
              <a:cs typeface="Times New Roman"/>
            </a:endParaRPr>
          </a:p>
          <a:p>
            <a:pPr marL="0" marR="0" lvl="0" indent="0" algn="l" rtl="0">
              <a:lnSpc>
                <a:spcPct val="162162"/>
              </a:lnSpc>
              <a:spcBef>
                <a:spcPts val="0"/>
              </a:spcBef>
              <a:spcAft>
                <a:spcPts val="0"/>
              </a:spcAft>
              <a:buClr>
                <a:srgbClr val="2B3541"/>
              </a:buClr>
              <a:buSzPts val="1850"/>
              <a:buFont typeface="Times New Roman"/>
              <a:buNone/>
            </a:pPr>
            <a:endParaRPr sz="2000" b="0" i="0" u="none" strike="noStrike" cap="none" dirty="0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80" name="Google Shape;280;p18">
            <a:extLst>
              <a:ext uri="{FF2B5EF4-FFF2-40B4-BE49-F238E27FC236}">
                <a16:creationId xmlns:a16="http://schemas.microsoft.com/office/drawing/2014/main" id="{E228982D-BF81-530A-CBA1-E897A3CA8EF7}"/>
              </a:ext>
            </a:extLst>
          </p:cNvPr>
          <p:cNvSpPr/>
          <p:nvPr/>
        </p:nvSpPr>
        <p:spPr>
          <a:xfrm>
            <a:off x="1218724" y="3360216"/>
            <a:ext cx="7468553" cy="766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2162"/>
              </a:lnSpc>
              <a:spcBef>
                <a:spcPts val="0"/>
              </a:spcBef>
              <a:spcAft>
                <a:spcPts val="0"/>
              </a:spcAft>
              <a:buClr>
                <a:srgbClr val="2B3541"/>
              </a:buClr>
              <a:buSzPts val="1850"/>
              <a:buFont typeface="Times New Roman"/>
              <a:buNone/>
            </a:pPr>
            <a:r>
              <a:rPr lang="en-US" sz="1850" b="0" i="0" u="none" strike="noStrike" cap="none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·</a:t>
            </a:r>
            <a:endParaRPr sz="1850" b="0" i="0" u="none" strike="noStrike" cap="non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81" name="Google Shape;281;p18">
            <a:extLst>
              <a:ext uri="{FF2B5EF4-FFF2-40B4-BE49-F238E27FC236}">
                <a16:creationId xmlns:a16="http://schemas.microsoft.com/office/drawing/2014/main" id="{7BC356B8-92F8-3187-D065-667AACF68E72}"/>
              </a:ext>
            </a:extLst>
          </p:cNvPr>
          <p:cNvSpPr/>
          <p:nvPr/>
        </p:nvSpPr>
        <p:spPr>
          <a:xfrm>
            <a:off x="1218724" y="4395464"/>
            <a:ext cx="7468553" cy="766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2162"/>
              </a:lnSpc>
              <a:spcBef>
                <a:spcPts val="0"/>
              </a:spcBef>
              <a:spcAft>
                <a:spcPts val="0"/>
              </a:spcAft>
              <a:buClr>
                <a:srgbClr val="2B3541"/>
              </a:buClr>
              <a:buSzPts val="1850"/>
              <a:buFont typeface="Times New Roman"/>
              <a:buNone/>
            </a:pPr>
            <a:r>
              <a:rPr lang="en-US" sz="1850" b="0" i="0" u="none" strike="noStrike" cap="none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·</a:t>
            </a:r>
            <a:endParaRPr sz="1850" b="0" i="0" u="none" strike="noStrike" cap="non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82" name="Google Shape;282;p18">
            <a:extLst>
              <a:ext uri="{FF2B5EF4-FFF2-40B4-BE49-F238E27FC236}">
                <a16:creationId xmlns:a16="http://schemas.microsoft.com/office/drawing/2014/main" id="{1558A011-60D6-B010-6117-1B9F7C786B2B}"/>
              </a:ext>
            </a:extLst>
          </p:cNvPr>
          <p:cNvSpPr/>
          <p:nvPr/>
        </p:nvSpPr>
        <p:spPr>
          <a:xfrm>
            <a:off x="1218724" y="5430713"/>
            <a:ext cx="7468553" cy="3830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2162"/>
              </a:lnSpc>
              <a:spcBef>
                <a:spcPts val="0"/>
              </a:spcBef>
              <a:spcAft>
                <a:spcPts val="0"/>
              </a:spcAft>
              <a:buClr>
                <a:srgbClr val="2B3541"/>
              </a:buClr>
              <a:buSzPts val="1850"/>
              <a:buFont typeface="Times New Roman"/>
              <a:buNone/>
            </a:pPr>
            <a:r>
              <a:rPr lang="en-US" sz="1850" b="0" i="0" u="none" strike="noStrike" cap="none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·</a:t>
            </a:r>
            <a:endParaRPr sz="1850" b="0" i="0" u="none" strike="noStrike" cap="non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60585192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4">
          <a:extLst>
            <a:ext uri="{FF2B5EF4-FFF2-40B4-BE49-F238E27FC236}">
              <a16:creationId xmlns:a16="http://schemas.microsoft.com/office/drawing/2014/main" id="{6FA0F82B-7EE5-EAB0-F470-130BDAC825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Google Shape;278;p18">
            <a:extLst>
              <a:ext uri="{FF2B5EF4-FFF2-40B4-BE49-F238E27FC236}">
                <a16:creationId xmlns:a16="http://schemas.microsoft.com/office/drawing/2014/main" id="{0668C6FD-577A-7288-5642-1AFC22BD04F2}"/>
              </a:ext>
            </a:extLst>
          </p:cNvPr>
          <p:cNvSpPr/>
          <p:nvPr/>
        </p:nvSpPr>
        <p:spPr>
          <a:xfrm>
            <a:off x="1042078" y="461132"/>
            <a:ext cx="6444496" cy="7040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57142"/>
              </a:lnSpc>
              <a:spcBef>
                <a:spcPts val="0"/>
              </a:spcBef>
              <a:spcAft>
                <a:spcPts val="0"/>
              </a:spcAft>
              <a:buClr>
                <a:srgbClr val="051D3A"/>
              </a:buClr>
              <a:buSzPts val="3500"/>
              <a:buFont typeface="Times New Roman"/>
              <a:buNone/>
            </a:pPr>
            <a:r>
              <a:rPr lang="en-US" sz="2800" b="1" dirty="0">
                <a:sym typeface="Times New Roman"/>
              </a:rPr>
              <a:t>Future Scope </a:t>
            </a:r>
            <a:endParaRPr sz="2800" b="1" dirty="0">
              <a:sym typeface="Times New Roman"/>
            </a:endParaRPr>
          </a:p>
        </p:txBody>
      </p:sp>
      <p:sp>
        <p:nvSpPr>
          <p:cNvPr id="279" name="Google Shape;279;p18">
            <a:extLst>
              <a:ext uri="{FF2B5EF4-FFF2-40B4-BE49-F238E27FC236}">
                <a16:creationId xmlns:a16="http://schemas.microsoft.com/office/drawing/2014/main" id="{EAFA16CB-0A72-5AC5-69A0-ABF4A752B43F}"/>
              </a:ext>
            </a:extLst>
          </p:cNvPr>
          <p:cNvSpPr/>
          <p:nvPr/>
        </p:nvSpPr>
        <p:spPr>
          <a:xfrm>
            <a:off x="1042077" y="1299750"/>
            <a:ext cx="10876295" cy="51375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lvl="0" algn="just"/>
            <a:r>
              <a:rPr lang="en-IN" sz="2000" b="1" dirty="0"/>
              <a:t>Multilingual Learning</a:t>
            </a:r>
            <a:r>
              <a:rPr lang="en-IN" sz="2000" dirty="0"/>
              <a:t> – Support Gujarati, Hindi, and other regional languages. </a:t>
            </a:r>
          </a:p>
          <a:p>
            <a:pPr lvl="0" algn="just"/>
            <a:r>
              <a:rPr lang="en-IN" sz="2000" b="1" dirty="0"/>
              <a:t>Voice &amp; Multimodal AI</a:t>
            </a:r>
            <a:r>
              <a:rPr lang="en-IN" sz="2000" dirty="0"/>
              <a:t> – Enable voice-based queries and image-based learning/assessment. </a:t>
            </a:r>
          </a:p>
          <a:p>
            <a:pPr lvl="0" algn="just"/>
            <a:r>
              <a:rPr lang="en-IN" sz="2000" b="1" dirty="0"/>
              <a:t>Advanced Personalization</a:t>
            </a:r>
            <a:r>
              <a:rPr lang="en-IN" sz="2000" dirty="0"/>
              <a:t> – Build deeper learner profiles using long-term learning patterns. </a:t>
            </a:r>
          </a:p>
          <a:p>
            <a:pPr lvl="0" algn="just"/>
            <a:r>
              <a:rPr lang="en-IN" sz="2000" b="1" dirty="0"/>
              <a:t>Predictive Analytics</a:t>
            </a:r>
            <a:r>
              <a:rPr lang="en-IN" sz="2000" dirty="0"/>
              <a:t> – Predict learning difficulties and identify at-risk students earlier. </a:t>
            </a:r>
          </a:p>
          <a:p>
            <a:pPr lvl="0" algn="just"/>
            <a:r>
              <a:rPr lang="en-IN" sz="2000" b="1" dirty="0"/>
              <a:t>Parent Dashboard</a:t>
            </a:r>
            <a:r>
              <a:rPr lang="en-IN" sz="2000" dirty="0"/>
              <a:t> – Provide parents with student progress and personalized insights. </a:t>
            </a:r>
          </a:p>
          <a:p>
            <a:pPr lvl="0" algn="just"/>
            <a:r>
              <a:rPr lang="en-IN" sz="2000" b="1" dirty="0"/>
              <a:t>Mobile Application</a:t>
            </a:r>
            <a:r>
              <a:rPr lang="en-IN" sz="2000" dirty="0"/>
              <a:t> – Extend ShikshaFlow AI to Android and low-connectivity environments. </a:t>
            </a:r>
          </a:p>
          <a:p>
            <a:pPr lvl="0" algn="just"/>
            <a:r>
              <a:rPr lang="en-IN" sz="2000" b="1" dirty="0"/>
              <a:t>Expanded RAG Knowledge Base</a:t>
            </a:r>
            <a:r>
              <a:rPr lang="en-IN" sz="2000" dirty="0"/>
              <a:t> – Integrate more OER, IBM </a:t>
            </a:r>
            <a:r>
              <a:rPr lang="en-IN" sz="2000" dirty="0" err="1"/>
              <a:t>SkillsBuild</a:t>
            </a:r>
            <a:r>
              <a:rPr lang="en-IN" sz="2000" dirty="0"/>
              <a:t>, textbooks, and curriculum resources. </a:t>
            </a:r>
          </a:p>
          <a:p>
            <a:pPr lvl="0" algn="just"/>
            <a:r>
              <a:rPr lang="en-IN" sz="2000" b="1" dirty="0"/>
              <a:t>Continuous AI Improvement</a:t>
            </a:r>
            <a:r>
              <a:rPr lang="en-IN" sz="2000" dirty="0"/>
              <a:t> – Use learning outcomes and feedback to improve recommendations over time. </a:t>
            </a:r>
          </a:p>
        </p:txBody>
      </p:sp>
      <p:sp>
        <p:nvSpPr>
          <p:cNvPr id="280" name="Google Shape;280;p18">
            <a:extLst>
              <a:ext uri="{FF2B5EF4-FFF2-40B4-BE49-F238E27FC236}">
                <a16:creationId xmlns:a16="http://schemas.microsoft.com/office/drawing/2014/main" id="{B888011B-E4AC-77DB-4A60-BE2C891C49F5}"/>
              </a:ext>
            </a:extLst>
          </p:cNvPr>
          <p:cNvSpPr/>
          <p:nvPr/>
        </p:nvSpPr>
        <p:spPr>
          <a:xfrm>
            <a:off x="1218724" y="3360216"/>
            <a:ext cx="7468553" cy="766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2162"/>
              </a:lnSpc>
              <a:spcBef>
                <a:spcPts val="0"/>
              </a:spcBef>
              <a:spcAft>
                <a:spcPts val="0"/>
              </a:spcAft>
              <a:buClr>
                <a:srgbClr val="2B3541"/>
              </a:buClr>
              <a:buSzPts val="1850"/>
              <a:buFont typeface="Times New Roman"/>
              <a:buNone/>
            </a:pPr>
            <a:r>
              <a:rPr lang="en-US" sz="1850" b="0" i="0" u="none" strike="noStrike" cap="none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·</a:t>
            </a:r>
            <a:endParaRPr sz="1850" b="0" i="0" u="none" strike="noStrike" cap="non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81" name="Google Shape;281;p18">
            <a:extLst>
              <a:ext uri="{FF2B5EF4-FFF2-40B4-BE49-F238E27FC236}">
                <a16:creationId xmlns:a16="http://schemas.microsoft.com/office/drawing/2014/main" id="{91F05971-9256-10B5-6575-4E7C679C6DAA}"/>
              </a:ext>
            </a:extLst>
          </p:cNvPr>
          <p:cNvSpPr/>
          <p:nvPr/>
        </p:nvSpPr>
        <p:spPr>
          <a:xfrm>
            <a:off x="1218724" y="4395464"/>
            <a:ext cx="7468553" cy="766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2162"/>
              </a:lnSpc>
              <a:spcBef>
                <a:spcPts val="0"/>
              </a:spcBef>
              <a:spcAft>
                <a:spcPts val="0"/>
              </a:spcAft>
              <a:buClr>
                <a:srgbClr val="2B3541"/>
              </a:buClr>
              <a:buSzPts val="1850"/>
              <a:buFont typeface="Times New Roman"/>
              <a:buNone/>
            </a:pPr>
            <a:r>
              <a:rPr lang="en-US" sz="1850" b="0" i="0" u="none" strike="noStrike" cap="none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·</a:t>
            </a:r>
            <a:endParaRPr sz="1850" b="0" i="0" u="none" strike="noStrike" cap="non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82" name="Google Shape;282;p18">
            <a:extLst>
              <a:ext uri="{FF2B5EF4-FFF2-40B4-BE49-F238E27FC236}">
                <a16:creationId xmlns:a16="http://schemas.microsoft.com/office/drawing/2014/main" id="{F1C3EBC2-438F-C150-9ABF-F14321C2CC5C}"/>
              </a:ext>
            </a:extLst>
          </p:cNvPr>
          <p:cNvSpPr/>
          <p:nvPr/>
        </p:nvSpPr>
        <p:spPr>
          <a:xfrm>
            <a:off x="1218724" y="5430713"/>
            <a:ext cx="7468553" cy="3830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2162"/>
              </a:lnSpc>
              <a:spcBef>
                <a:spcPts val="0"/>
              </a:spcBef>
              <a:spcAft>
                <a:spcPts val="0"/>
              </a:spcAft>
              <a:buClr>
                <a:srgbClr val="2B3541"/>
              </a:buClr>
              <a:buSzPts val="1850"/>
              <a:buFont typeface="Times New Roman"/>
              <a:buNone/>
            </a:pPr>
            <a:r>
              <a:rPr lang="en-US" sz="1850" b="0" i="0" u="none" strike="noStrike" cap="none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·</a:t>
            </a:r>
            <a:endParaRPr sz="1850" b="0" i="0" u="none" strike="noStrike" cap="non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13670672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3F1C7BCA-5DD7-F4D3-A937-D1C56976DA01}"/>
              </a:ext>
            </a:extLst>
          </p:cNvPr>
          <p:cNvSpPr txBox="1"/>
          <p:nvPr/>
        </p:nvSpPr>
        <p:spPr>
          <a:xfrm>
            <a:off x="327949" y="207380"/>
            <a:ext cx="6096000" cy="95410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800" b="1" dirty="0"/>
              <a:t>Certificates Earned:</a:t>
            </a:r>
          </a:p>
          <a:p>
            <a:pPr algn="ctr"/>
            <a:endParaRPr lang="en-US" sz="28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2373497-39BF-87C0-B657-77E3B016F06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85494" y="801361"/>
            <a:ext cx="7717898" cy="57661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2904765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644290-7A42-520D-44FB-B0002DB914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1BE8E861-5745-1D46-B0C6-487519BD8296}"/>
              </a:ext>
            </a:extLst>
          </p:cNvPr>
          <p:cNvSpPr txBox="1"/>
          <p:nvPr/>
        </p:nvSpPr>
        <p:spPr>
          <a:xfrm>
            <a:off x="327949" y="207380"/>
            <a:ext cx="6096000" cy="95410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800" b="1" dirty="0"/>
              <a:t>Certificates Earned:</a:t>
            </a:r>
          </a:p>
          <a:p>
            <a:pPr algn="ctr"/>
            <a:endParaRPr lang="en-US" sz="28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03A7662-D389-318B-DB63-A327E784EFC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25930" y="763477"/>
            <a:ext cx="9560230" cy="58871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2865388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A36683-EFFA-9B74-2BBC-7A9E76AB15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CC5A0B29-6346-4C32-E43A-D1289CAAE99C}"/>
              </a:ext>
            </a:extLst>
          </p:cNvPr>
          <p:cNvSpPr txBox="1"/>
          <p:nvPr/>
        </p:nvSpPr>
        <p:spPr>
          <a:xfrm>
            <a:off x="327949" y="207380"/>
            <a:ext cx="6096000" cy="95410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800" b="1" dirty="0"/>
              <a:t>Certificates Earned:</a:t>
            </a:r>
          </a:p>
          <a:p>
            <a:pPr algn="ctr"/>
            <a:endParaRPr lang="en-US" sz="2800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5721301-A191-2360-7061-21DD8F376AC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42005" y="918806"/>
            <a:ext cx="9307989" cy="57318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2743445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CA8544A9-CF92-3FAF-D3EE-31DF90F7A64D}"/>
              </a:ext>
            </a:extLst>
          </p:cNvPr>
          <p:cNvSpPr txBox="1"/>
          <p:nvPr/>
        </p:nvSpPr>
        <p:spPr>
          <a:xfrm>
            <a:off x="176696" y="226391"/>
            <a:ext cx="6096000" cy="95410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800" b="1" i="0" u="none" strike="noStrike" baseline="0" dirty="0">
                <a:solidFill>
                  <a:srgbClr val="000000"/>
                </a:solidFill>
                <a:latin typeface="Arial"/>
              </a:rPr>
              <a:t>Certificates Earned:</a:t>
            </a:r>
            <a:r>
              <a:rPr sz="2800" b="0" i="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​</a:t>
            </a:r>
            <a:endParaRPr lang="en-US" sz="2800" dirty="0"/>
          </a:p>
          <a:p>
            <a:pPr algn="ctr"/>
            <a:endParaRPr lang="en-US" sz="2800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7A876AF-B2C2-9080-DE42-F6B3711965D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7966" y="831274"/>
            <a:ext cx="9136068" cy="56802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0661074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0" name="Google Shape;310;p2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2190302"/>
            <a:ext cx="12192000" cy="247739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295</TotalTime>
  <Words>1126</Words>
  <Application>Microsoft Office PowerPoint</Application>
  <PresentationFormat>Widescreen</PresentationFormat>
  <Paragraphs>100</Paragraphs>
  <Slides>18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2" baseType="lpstr">
      <vt:lpstr>Arial</vt:lpstr>
      <vt:lpstr>Calibri</vt:lpstr>
      <vt:lpstr>Times New Roman</vt:lpstr>
      <vt:lpstr>Office Theme</vt:lpstr>
      <vt:lpstr>IBM University Engagement Project Submission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Manda Anirudh</dc:creator>
  <cp:lastModifiedBy>Shubham Kushwaha</cp:lastModifiedBy>
  <cp:revision>26</cp:revision>
  <dcterms:created xsi:type="dcterms:W3CDTF">2025-07-08T05:06:56Z</dcterms:created>
  <dcterms:modified xsi:type="dcterms:W3CDTF">2026-08-24T11:31:27Z</dcterms:modified>
</cp:coreProperties>
</file>